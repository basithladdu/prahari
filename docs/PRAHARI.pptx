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jp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A0F1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34D3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1097280"/>
            <a:ext cx="1033272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200" b="1">
                <a:solidFill>
                  <a:srgbClr val="38BDF8"/>
                </a:solidFill>
                <a:latin typeface="Segoe UI"/>
              </a:rPr>
              <a:t>C-DAC / MEITY AI ENABLED OS HACKATHON 2026  •  TRACK 2: AI AT OS &amp; KERNEL LEVEL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1554480"/>
            <a:ext cx="10332720" cy="12801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5600" b="1">
                <a:solidFill>
                  <a:srgbClr val="F8FAFC"/>
                </a:solidFill>
                <a:latin typeface="Segoe UI"/>
              </a:rPr>
              <a:t>PRAHARI</a:t>
            </a:r>
          </a:p>
          <a:p>
            <a:r>
              <a:rPr sz="2100" b="1">
                <a:solidFill>
                  <a:srgbClr val="34D399"/>
                </a:solidFill>
                <a:latin typeface="Segoe UI"/>
              </a:rPr>
              <a:t>Behavioural Boot Attestation with Dual Hybrid Post-Quantum Signing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914400" y="3200400"/>
            <a:ext cx="3291840" cy="1188720"/>
          </a:xfrm>
          <a:prstGeom prst="roundRect">
            <a:avLst/>
          </a:prstGeom>
          <a:solidFill>
            <a:srgbClr val="131B2C"/>
          </a:solidFill>
          <a:ln w="12700">
            <a:solidFill>
              <a:srgbClr val="34D39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51560" y="3291840"/>
            <a:ext cx="301752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>
                <a:solidFill>
                  <a:srgbClr val="34D399"/>
                </a:solidFill>
                <a:latin typeface="Segoe UI"/>
              </a:rPr>
              <a:t>4 / 4 Caught</a:t>
            </a:r>
          </a:p>
          <a:p>
            <a:r>
              <a:rPr sz="1200" b="1">
                <a:solidFill>
                  <a:srgbClr val="F8FAFC"/>
                </a:solidFill>
                <a:latin typeface="Segoe UI"/>
              </a:rPr>
              <a:t>Attack Vectors Detected</a:t>
            </a:r>
          </a:p>
          <a:p>
            <a:r>
              <a:rPr sz="1050">
                <a:solidFill>
                  <a:srgbClr val="94A3B8"/>
                </a:solidFill>
                <a:latin typeface="Segoe UI"/>
              </a:rPr>
              <a:t>Tamper, Insert, Reorder, Substitute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434840" y="3200400"/>
            <a:ext cx="3291840" cy="1188720"/>
          </a:xfrm>
          <a:prstGeom prst="roundRect">
            <a:avLst/>
          </a:prstGeom>
          <a:solidFill>
            <a:srgbClr val="131B2C"/>
          </a:solidFill>
          <a:ln w="12700">
            <a:solidFill>
              <a:srgbClr val="38BDF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572000" y="3291840"/>
            <a:ext cx="301752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>
                <a:solidFill>
                  <a:srgbClr val="38BDF8"/>
                </a:solidFill>
                <a:latin typeface="Segoe UI"/>
              </a:rPr>
              <a:t>0 Hardware Changes</a:t>
            </a:r>
          </a:p>
          <a:p>
            <a:r>
              <a:rPr sz="1200" b="1">
                <a:solidFill>
                  <a:srgbClr val="F8FAFC"/>
                </a:solidFill>
                <a:latin typeface="Segoe UI"/>
              </a:rPr>
              <a:t>Native Linux IMA Log</a:t>
            </a:r>
          </a:p>
          <a:p>
            <a:r>
              <a:rPr sz="1050">
                <a:solidFill>
                  <a:srgbClr val="94A3B8"/>
                </a:solidFill>
                <a:latin typeface="Segoe UI"/>
              </a:rPr>
              <a:t>Runs on standard servers &amp; VMs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955279" y="3200400"/>
            <a:ext cx="3291840" cy="1188720"/>
          </a:xfrm>
          <a:prstGeom prst="roundRect">
            <a:avLst/>
          </a:prstGeom>
          <a:solidFill>
            <a:srgbClr val="131B2C"/>
          </a:solidFill>
          <a:ln w="12700">
            <a:solidFill>
              <a:srgbClr val="C084F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092440" y="3291840"/>
            <a:ext cx="301752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>
                <a:solidFill>
                  <a:srgbClr val="C084FC"/>
                </a:solidFill>
                <a:latin typeface="Segoe UI"/>
              </a:rPr>
              <a:t>FIPS 204 Ready</a:t>
            </a:r>
          </a:p>
          <a:p>
            <a:r>
              <a:rPr sz="1200" b="1">
                <a:solidFill>
                  <a:srgbClr val="F8FAFC"/>
                </a:solidFill>
                <a:latin typeface="Segoe UI"/>
              </a:rPr>
              <a:t>ML-DSA-65 + ECDSA P-256</a:t>
            </a:r>
          </a:p>
          <a:p>
            <a:r>
              <a:rPr sz="1050">
                <a:solidFill>
                  <a:srgbClr val="94A3B8"/>
                </a:solidFill>
                <a:latin typeface="Segoe UI"/>
              </a:rPr>
              <a:t>RFC 9019 Dual Hybrid Signing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914400" y="4754880"/>
            <a:ext cx="10360152" cy="1280160"/>
          </a:xfrm>
          <a:prstGeom prst="roundRect">
            <a:avLst/>
          </a:prstGeom>
          <a:solidFill>
            <a:srgbClr val="131B2C"/>
          </a:solidFill>
          <a:ln w="12700">
            <a:solidFill>
              <a:srgbClr val="26334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97280" y="4892040"/>
            <a:ext cx="9966960" cy="10058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300" b="1">
                <a:solidFill>
                  <a:srgbClr val="38BDF8"/>
                </a:solidFill>
                <a:latin typeface="Segoe UI"/>
              </a:rPr>
              <a:t>Problem Statement 3: AI-Assisted Secure Boot &amp; Integrity Verification</a:t>
            </a:r>
          </a:p>
          <a:p>
            <a:r>
              <a:rPr sz="1200">
                <a:solidFill>
                  <a:srgbClr val="94A3B8"/>
                </a:solidFill>
                <a:latin typeface="Segoe UI"/>
              </a:rPr>
              <a:t>Team: Shaik Abdul Basith, Shaik Awaiz, Shaik Abdul Muqeeth  •  GitHub: github.com/basithladdu/prahari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A0F1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38BD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320040"/>
            <a:ext cx="106984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1">
                <a:solidFill>
                  <a:srgbClr val="38BDF8"/>
                </a:solidFill>
                <a:latin typeface="Segoe UI"/>
              </a:rPr>
              <a:t>THE THREAT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594360"/>
            <a:ext cx="106984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300" b="1">
                <a:solidFill>
                  <a:srgbClr val="F8FAFC"/>
                </a:solidFill>
                <a:latin typeface="Segoe UI"/>
              </a:rPr>
              <a:t>Why Signature Verification is Structurally Blind to Modern Bootkits</a:t>
            </a:r>
          </a:p>
          <a:p>
            <a:r>
              <a:rPr sz="1200">
                <a:solidFill>
                  <a:srgbClr val="94A3B8"/>
                </a:solidFill>
                <a:latin typeface="Segoe UI"/>
              </a:rPr>
              <a:t>Signatures verify provenance; they say nothing about whether the boot sequence is abnormal.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1463040"/>
            <a:ext cx="5120640" cy="4114800"/>
          </a:xfrm>
          <a:prstGeom prst="roundRect">
            <a:avLst/>
          </a:prstGeom>
          <a:solidFill>
            <a:srgbClr val="131B2C"/>
          </a:solidFill>
          <a:ln w="12700">
            <a:solidFill>
              <a:srgbClr val="EF444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32688" y="1609344"/>
            <a:ext cx="4718303" cy="382219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050" b="1">
                <a:solidFill>
                  <a:srgbClr val="F87171"/>
                </a:solidFill>
                <a:latin typeface="Segoe UI"/>
              </a:rPr>
              <a:t>[THE ALLOWLIST FALLACY] </a:t>
            </a:r>
            <a:r>
              <a:rPr sz="1550" b="1">
                <a:solidFill>
                  <a:srgbClr val="F8FAFC"/>
                </a:solidFill>
                <a:latin typeface="Segoe UI"/>
              </a:rPr>
              <a:t>Traditional Measured Boot (Keylime)</a:t>
            </a:r>
          </a:p>
          <a:p>
            <a:pPr>
              <a:spcAft>
                <a:spcPts val="500"/>
              </a:spcAft>
            </a:pPr>
            <a:r>
              <a:rPr sz="1200" b="1">
                <a:solidFill>
                  <a:srgbClr val="94A3B8"/>
                </a:solidFill>
                <a:latin typeface="Segoe UI"/>
              </a:rPr>
              <a:t>Static Guest List: </a:t>
            </a:r>
            <a:r>
              <a:rPr sz="1200">
                <a:solidFill>
                  <a:srgbClr val="F8FAFC"/>
                </a:solidFill>
                <a:latin typeface="Segoe UI"/>
              </a:rPr>
              <a:t>Checks measured hashes against an allowlist of known-good SHA-256 digests.</a:t>
            </a:r>
          </a:p>
          <a:p>
            <a:pPr>
              <a:spcAft>
                <a:spcPts val="500"/>
              </a:spcAft>
            </a:pPr>
            <a:r>
              <a:rPr sz="1200" b="1">
                <a:solidFill>
                  <a:srgbClr val="94A3B8"/>
                </a:solidFill>
                <a:latin typeface="Segoe UI"/>
              </a:rPr>
              <a:t>Single Question: </a:t>
            </a:r>
            <a:r>
              <a:rPr sz="1200">
                <a:solidFill>
                  <a:srgbClr val="F8FAFC"/>
                </a:solidFill>
                <a:latin typeface="Segoe UI"/>
              </a:rPr>
              <a:t>'Does this hash appear in the database?'</a:t>
            </a:r>
          </a:p>
          <a:p>
            <a:pPr>
              <a:spcAft>
                <a:spcPts val="500"/>
              </a:spcAft>
            </a:pPr>
            <a:r>
              <a:rPr sz="1200" b="1">
                <a:solidFill>
                  <a:srgbClr val="F87171"/>
                </a:solidFill>
                <a:latin typeface="Segoe UI"/>
              </a:rPr>
              <a:t>Fatal Blind Spot: </a:t>
            </a:r>
            <a:r>
              <a:rPr sz="1200">
                <a:solidFill>
                  <a:srgbClr val="F8FAFC"/>
                </a:solidFill>
                <a:latin typeface="Segoe UI"/>
              </a:rPr>
              <a:t>Completely blind to execution order, race conditions, and binary permutations.</a:t>
            </a:r>
          </a:p>
          <a:p>
            <a:pPr>
              <a:spcAft>
                <a:spcPts val="500"/>
              </a:spcAft>
            </a:pPr>
            <a:r>
              <a:rPr sz="1200" b="1">
                <a:solidFill>
                  <a:srgbClr val="F87171"/>
                </a:solidFill>
                <a:latin typeface="Segoe UI"/>
              </a:rPr>
              <a:t>Zero Protection: </a:t>
            </a:r>
            <a:r>
              <a:rPr sz="1200">
                <a:solidFill>
                  <a:srgbClr val="F8FAFC"/>
                </a:solidFill>
                <a:latin typeface="Segoe UI"/>
              </a:rPr>
              <a:t>An attacker running valid signed binaries in an abnormal sequence is approved 100%.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17920" y="1463040"/>
            <a:ext cx="5120640" cy="4114800"/>
          </a:xfrm>
          <a:prstGeom prst="roundRect">
            <a:avLst/>
          </a:prstGeom>
          <a:solidFill>
            <a:srgbClr val="131B2C"/>
          </a:solidFill>
          <a:ln w="12700">
            <a:solidFill>
              <a:srgbClr val="FBBF2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419088" y="1609344"/>
            <a:ext cx="4718303" cy="382219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050" b="1">
                <a:solidFill>
                  <a:srgbClr val="FBBF24"/>
                </a:solidFill>
                <a:latin typeface="Segoe UI"/>
              </a:rPr>
              <a:t>[REAL-WORLD VECTORS] </a:t>
            </a:r>
            <a:r>
              <a:rPr sz="1550" b="1">
                <a:solidFill>
                  <a:srgbClr val="F8FAFC"/>
                </a:solidFill>
                <a:latin typeface="Segoe UI"/>
              </a:rPr>
              <a:t>BlackLotus (2023) &amp; Bootkitty (2024)</a:t>
            </a:r>
          </a:p>
          <a:p>
            <a:pPr>
              <a:spcAft>
                <a:spcPts val="500"/>
              </a:spcAft>
            </a:pPr>
            <a:r>
              <a:rPr sz="1200" b="1">
                <a:solidFill>
                  <a:srgbClr val="38BDF8"/>
                </a:solidFill>
                <a:latin typeface="Segoe UI"/>
              </a:rPr>
              <a:t>BlackLotus: </a:t>
            </a:r>
            <a:r>
              <a:rPr sz="1200">
                <a:solidFill>
                  <a:srgbClr val="F8FAFC"/>
                </a:solidFill>
                <a:latin typeface="Segoe UI"/>
              </a:rPr>
              <a:t>Bypassed UEFI Secure Boot by shipping authentic, Microsoft-signed binaries with known flaws.</a:t>
            </a:r>
          </a:p>
          <a:p>
            <a:pPr>
              <a:spcAft>
                <a:spcPts val="500"/>
              </a:spcAft>
            </a:pPr>
            <a:r>
              <a:rPr sz="1200" b="1">
                <a:solidFill>
                  <a:srgbClr val="38BDF8"/>
                </a:solidFill>
                <a:latin typeface="Segoe UI"/>
              </a:rPr>
              <a:t>Bootkitty: </a:t>
            </a:r>
            <a:r>
              <a:rPr sz="1200">
                <a:solidFill>
                  <a:srgbClr val="F8FAFC"/>
                </a:solidFill>
                <a:latin typeface="Segoe UI"/>
              </a:rPr>
              <a:t>Compromised Ubuntu Secure Boot through signed components via LogoFAIL vulnerabilities.</a:t>
            </a:r>
          </a:p>
          <a:p>
            <a:pPr>
              <a:spcAft>
                <a:spcPts val="500"/>
              </a:spcAft>
            </a:pPr>
            <a:r>
              <a:rPr sz="1200" b="1">
                <a:solidFill>
                  <a:srgbClr val="FBBF24"/>
                </a:solidFill>
                <a:latin typeface="Segoe UI"/>
              </a:rPr>
              <a:t>The Reality: </a:t>
            </a:r>
            <a:r>
              <a:rPr sz="1200">
                <a:solidFill>
                  <a:srgbClr val="F8FAFC"/>
                </a:solidFill>
                <a:latin typeface="Segoe UI"/>
              </a:rPr>
              <a:t>Every signature was valid. Every hash was on the list. The machine was compromised anyway.</a:t>
            </a:r>
          </a:p>
          <a:p>
            <a:pPr>
              <a:spcAft>
                <a:spcPts val="500"/>
              </a:spcAft>
            </a:pPr>
            <a:r>
              <a:rPr sz="1200" b="1">
                <a:solidFill>
                  <a:srgbClr val="34D399"/>
                </a:solidFill>
                <a:latin typeface="Segoe UI"/>
              </a:rPr>
              <a:t>The Solution: </a:t>
            </a:r>
            <a:r>
              <a:rPr sz="1200">
                <a:solidFill>
                  <a:srgbClr val="F8FAFC"/>
                </a:solidFill>
                <a:latin typeface="Segoe UI"/>
              </a:rPr>
              <a:t>Transition sequence order is the only remaining anomaly signal.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31520" y="5760720"/>
            <a:ext cx="10607040" cy="685800"/>
          </a:xfrm>
          <a:prstGeom prst="roundRect">
            <a:avLst/>
          </a:prstGeom>
          <a:solidFill>
            <a:srgbClr val="131B2C"/>
          </a:solidFill>
          <a:ln w="12700"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14400" y="5806440"/>
            <a:ext cx="10241280" cy="5943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300" b="1">
                <a:solidFill>
                  <a:srgbClr val="34D399"/>
                </a:solidFill>
                <a:latin typeface="Segoe UI"/>
              </a:rPr>
              <a:t>💡 Core Insight: Boot integrity is a property of the ORDER of events, not of individual hashes.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A0F1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38BD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320040"/>
            <a:ext cx="106984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1">
                <a:solidFill>
                  <a:srgbClr val="38BDF8"/>
                </a:solidFill>
                <a:latin typeface="Segoe UI"/>
              </a:rPr>
              <a:t>OUR INNOVATION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594360"/>
            <a:ext cx="106984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300" b="1">
                <a:solidFill>
                  <a:srgbClr val="F8FAFC"/>
                </a:solidFill>
                <a:latin typeface="Segoe UI"/>
              </a:rPr>
              <a:t>Dual-Axis Token Projection &amp; N-Gram Behavioral Modeling</a:t>
            </a:r>
          </a:p>
          <a:p>
            <a:r>
              <a:rPr sz="1200">
                <a:solidFill>
                  <a:srgbClr val="94A3B8"/>
                </a:solidFill>
                <a:latin typeface="Segoe UI"/>
              </a:rPr>
              <a:t>Zero kernel patches, zero new hardware — reads native Linux securityfs IMA measurement logs.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1463040"/>
            <a:ext cx="3383280" cy="4937760"/>
          </a:xfrm>
          <a:prstGeom prst="roundRect">
            <a:avLst/>
          </a:prstGeom>
          <a:solidFill>
            <a:srgbClr val="131B2C"/>
          </a:solidFill>
          <a:ln w="12700">
            <a:solidFill>
              <a:srgbClr val="26334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32688" y="1609344"/>
            <a:ext cx="2980944" cy="46451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050" b="1">
                <a:solidFill>
                  <a:srgbClr val="38BDF8"/>
                </a:solidFill>
                <a:latin typeface="Segoe UI"/>
              </a:rPr>
              <a:t>[1. PROJECTION] </a:t>
            </a:r>
            <a:r>
              <a:rPr sz="1550" b="1">
                <a:solidFill>
                  <a:srgbClr val="F8FAFC"/>
                </a:solidFill>
                <a:latin typeface="Segoe UI"/>
              </a:rPr>
              <a:t>Dual-Axis Tokenization</a:t>
            </a:r>
          </a:p>
          <a:p>
            <a:pPr>
              <a:spcAft>
                <a:spcPts val="500"/>
              </a:spcAft>
            </a:pPr>
            <a:r>
              <a:rPr sz="1200" b="1">
                <a:solidFill>
                  <a:srgbClr val="38BDF8"/>
                </a:solidFill>
                <a:latin typeface="Segoe UI"/>
              </a:rPr>
              <a:t>Identity Axis: </a:t>
            </a:r>
            <a:r>
              <a:rPr sz="1200">
                <a:solidFill>
                  <a:srgbClr val="F8FAFC"/>
                </a:solidFill>
                <a:latin typeface="Segoe UI"/>
              </a:rPr>
              <a:t>Normalised path (/init, /bin/systemd) — deterministic across clean boots.</a:t>
            </a:r>
          </a:p>
          <a:p>
            <a:pPr>
              <a:spcAft>
                <a:spcPts val="500"/>
              </a:spcAft>
            </a:pPr>
            <a:r>
              <a:rPr sz="1200" b="1">
                <a:solidFill>
                  <a:srgbClr val="34D399"/>
                </a:solidFill>
                <a:latin typeface="Segoe UI"/>
              </a:rPr>
              <a:t>Content Axis: </a:t>
            </a:r>
            <a:r>
              <a:rPr sz="1200">
                <a:solidFill>
                  <a:srgbClr val="F8FAFC"/>
                </a:solidFill>
                <a:latin typeface="Segoe UI"/>
              </a:rPr>
              <a:t>Cryptographic hash — catches direct byte corruption.</a:t>
            </a:r>
          </a:p>
          <a:p>
            <a:pPr>
              <a:spcAft>
                <a:spcPts val="500"/>
              </a:spcAft>
            </a:pPr>
            <a:r>
              <a:rPr sz="1200" b="1">
                <a:solidFill>
                  <a:srgbClr val="94A3B8"/>
                </a:solidFill>
                <a:latin typeface="Segoe UI"/>
              </a:rPr>
              <a:t>Why it matters: </a:t>
            </a:r>
            <a:r>
              <a:rPr sz="1200">
                <a:solidFill>
                  <a:srgbClr val="F8FAFC"/>
                </a:solidFill>
                <a:latin typeface="Segoe UI"/>
              </a:rPr>
              <a:t>Projects continuous measurement logs into discrete tokens for sequence anomaly analysis.</a:t>
            </a:r>
          </a:p>
          <a:p>
            <a:pPr>
              <a:spcAft>
                <a:spcPts val="500"/>
              </a:spcAft>
            </a:pPr>
            <a:r>
              <a:rPr sz="1200" b="1">
                <a:solidFill>
                  <a:srgbClr val="94A3B8"/>
                </a:solidFill>
                <a:latin typeface="Segoe UI"/>
              </a:rPr>
              <a:t>Native Linux: </a:t>
            </a:r>
            <a:r>
              <a:rPr sz="1200">
                <a:solidFill>
                  <a:srgbClr val="F8FAFC"/>
                </a:solidFill>
                <a:latin typeface="Segoe UI"/>
              </a:rPr>
              <a:t>Reads securityfs /ima/ascii_runtime_measurements directly.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389120" y="1463040"/>
            <a:ext cx="3383280" cy="4937760"/>
          </a:xfrm>
          <a:prstGeom prst="roundRect">
            <a:avLst/>
          </a:prstGeom>
          <a:solidFill>
            <a:srgbClr val="131B2C"/>
          </a:solidFill>
          <a:ln w="12700">
            <a:solidFill>
              <a:srgbClr val="26334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590288" y="1609344"/>
            <a:ext cx="2980944" cy="46451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050" b="1">
                <a:solidFill>
                  <a:srgbClr val="34D399"/>
                </a:solidFill>
                <a:latin typeface="Segoe UI"/>
              </a:rPr>
              <a:t>[2. LEARNING] </a:t>
            </a:r>
            <a:r>
              <a:rPr sz="1550" b="1">
                <a:solidFill>
                  <a:srgbClr val="F8FAFC"/>
                </a:solidFill>
                <a:latin typeface="Segoe UI"/>
              </a:rPr>
              <a:t>N-Gram Behavioral Model</a:t>
            </a:r>
          </a:p>
          <a:p>
            <a:pPr>
              <a:spcAft>
                <a:spcPts val="500"/>
              </a:spcAft>
            </a:pPr>
            <a:r>
              <a:rPr sz="1200" b="1">
                <a:solidFill>
                  <a:srgbClr val="34D399"/>
                </a:solidFill>
                <a:latin typeface="Segoe UI"/>
              </a:rPr>
              <a:t>Rapid Convergence: </a:t>
            </a:r>
            <a:r>
              <a:rPr sz="1200">
                <a:solidFill>
                  <a:srgbClr val="F8FAFC"/>
                </a:solidFill>
                <a:latin typeface="Segoe UI"/>
              </a:rPr>
              <a:t>Learns baseline transitions in 4-5 boots on physical machines.</a:t>
            </a:r>
          </a:p>
          <a:p>
            <a:pPr>
              <a:spcAft>
                <a:spcPts val="500"/>
              </a:spcAft>
            </a:pPr>
            <a:r>
              <a:rPr sz="1200" b="1">
                <a:solidFill>
                  <a:srgbClr val="34D399"/>
                </a:solidFill>
                <a:latin typeface="Segoe UI"/>
              </a:rPr>
              <a:t>100% Inspectable: </a:t>
            </a:r>
            <a:r>
              <a:rPr sz="1200">
                <a:solidFill>
                  <a:srgbClr val="F8FAFC"/>
                </a:solidFill>
                <a:latin typeface="Segoe UI"/>
              </a:rPr>
              <a:t>Every alert points to a concrete transition: A -&gt; B -&gt; C.</a:t>
            </a:r>
          </a:p>
          <a:p>
            <a:pPr>
              <a:spcAft>
                <a:spcPts val="500"/>
              </a:spcAft>
            </a:pPr>
            <a:r>
              <a:rPr sz="1200" b="1">
                <a:solidFill>
                  <a:srgbClr val="FBBF24"/>
                </a:solidFill>
                <a:latin typeface="Segoe UI"/>
              </a:rPr>
              <a:t>Zero Black Box: </a:t>
            </a:r>
            <a:r>
              <a:rPr sz="1200">
                <a:solidFill>
                  <a:srgbClr val="F8FAFC"/>
                </a:solidFill>
                <a:latin typeface="Segoe UI"/>
              </a:rPr>
              <a:t>Avoids opaque neural weights (DeepLog/LogBERT) that require thousands of logs.</a:t>
            </a:r>
          </a:p>
          <a:p>
            <a:pPr>
              <a:spcAft>
                <a:spcPts val="500"/>
              </a:spcAft>
            </a:pPr>
            <a:r>
              <a:rPr sz="1200" b="1">
                <a:solidFill>
                  <a:srgbClr val="F8FAFC"/>
                </a:solidFill>
                <a:latin typeface="Segoe UI"/>
              </a:rPr>
              <a:t>Actionable: </a:t>
            </a:r>
            <a:r>
              <a:rPr sz="1200">
                <a:solidFill>
                  <a:srgbClr val="F8FAFC"/>
                </a:solidFill>
                <a:latin typeface="Segoe UI"/>
              </a:rPr>
              <a:t>System administrators can verify and audit every flagged anomaly.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046720" y="1463040"/>
            <a:ext cx="3383280" cy="4937760"/>
          </a:xfrm>
          <a:prstGeom prst="roundRect">
            <a:avLst/>
          </a:prstGeom>
          <a:solidFill>
            <a:srgbClr val="131B2C"/>
          </a:solidFill>
          <a:ln w="12700">
            <a:solidFill>
              <a:srgbClr val="A855F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247888" y="1609344"/>
            <a:ext cx="2980944" cy="46451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050" b="1">
                <a:solidFill>
                  <a:srgbClr val="C084FC"/>
                </a:solidFill>
                <a:latin typeface="Segoe UI"/>
              </a:rPr>
              <a:t>[3. POST-QUANTUM] </a:t>
            </a:r>
            <a:r>
              <a:rPr sz="1550" b="1">
                <a:solidFill>
                  <a:srgbClr val="F8FAFC"/>
                </a:solidFill>
                <a:latin typeface="Segoe UI"/>
              </a:rPr>
              <a:t>Dual Hybrid Signing</a:t>
            </a:r>
          </a:p>
          <a:p>
            <a:pPr>
              <a:spcAft>
                <a:spcPts val="500"/>
              </a:spcAft>
            </a:pPr>
            <a:r>
              <a:rPr sz="1200" b="1">
                <a:solidFill>
                  <a:srgbClr val="C084FC"/>
                </a:solidFill>
                <a:latin typeface="Segoe UI"/>
              </a:rPr>
              <a:t>Dual Signatures: </a:t>
            </a:r>
            <a:r>
              <a:rPr sz="1200">
                <a:solidFill>
                  <a:srgbClr val="F8FAFC"/>
                </a:solidFill>
                <a:latin typeface="Segoe UI"/>
              </a:rPr>
              <a:t>ECDSA P-256 (classical) + ML-DSA-65 (FIPS 204 post-quantum).</a:t>
            </a:r>
          </a:p>
          <a:p>
            <a:pPr>
              <a:spcAft>
                <a:spcPts val="500"/>
              </a:spcAft>
            </a:pPr>
            <a:r>
              <a:rPr sz="1200" b="1">
                <a:solidFill>
                  <a:srgbClr val="C084FC"/>
                </a:solidFill>
                <a:latin typeface="Segoe UI"/>
              </a:rPr>
              <a:t>RFC 9019 Standard: </a:t>
            </a:r>
            <a:r>
              <a:rPr sz="1200">
                <a:solidFill>
                  <a:srgbClr val="F8FAFC"/>
                </a:solidFill>
                <a:latin typeface="Segoe UI"/>
              </a:rPr>
              <a:t>Both signatures must validate for attestation approval.</a:t>
            </a:r>
          </a:p>
          <a:p>
            <a:pPr>
              <a:spcAft>
                <a:spcPts val="500"/>
              </a:spcAft>
            </a:pPr>
            <a:r>
              <a:rPr sz="1200" b="1">
                <a:solidFill>
                  <a:srgbClr val="34D399"/>
                </a:solidFill>
                <a:latin typeface="Segoe UI"/>
              </a:rPr>
              <a:t>NSA CNSA 2.0: </a:t>
            </a:r>
            <a:r>
              <a:rPr sz="1200">
                <a:solidFill>
                  <a:srgbClr val="F8FAFC"/>
                </a:solidFill>
                <a:latin typeface="Segoe UI"/>
              </a:rPr>
              <a:t>Directly implements firmware/boot integrity quantum transition priority.</a:t>
            </a:r>
          </a:p>
          <a:p>
            <a:pPr>
              <a:spcAft>
                <a:spcPts val="500"/>
              </a:spcAft>
            </a:pPr>
            <a:r>
              <a:rPr sz="1200" b="1">
                <a:solidFill>
                  <a:srgbClr val="94A3B8"/>
                </a:solidFill>
                <a:latin typeface="Segoe UI"/>
              </a:rPr>
              <a:t>OpenSSL 3.5: </a:t>
            </a:r>
            <a:r>
              <a:rPr sz="1200">
                <a:solidFill>
                  <a:srgbClr val="F8FAFC"/>
                </a:solidFill>
                <a:latin typeface="Segoe UI"/>
              </a:rPr>
              <a:t>Native implementation with zero exotic dependencies.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A0F1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38BD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320040"/>
            <a:ext cx="106984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1">
                <a:solidFill>
                  <a:srgbClr val="38BDF8"/>
                </a:solidFill>
                <a:latin typeface="Segoe UI"/>
              </a:rPr>
              <a:t>EVALUATION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594360"/>
            <a:ext cx="106984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300" b="1">
                <a:solidFill>
                  <a:srgbClr val="F8FAFC"/>
                </a:solidFill>
                <a:latin typeface="Segoe UI"/>
              </a:rPr>
              <a:t>4-Vector Threat Benchmark: Allowlist vs PRAHARI</a:t>
            </a:r>
          </a:p>
          <a:p>
            <a:r>
              <a:rPr sz="1200">
                <a:solidFill>
                  <a:srgbClr val="94A3B8"/>
                </a:solidFill>
                <a:latin typeface="Segoe UI"/>
              </a:rPr>
              <a:t>Evaluating tamper, insert, reorder, and substitute attacks on Linux IMA logs.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1463040"/>
            <a:ext cx="10698480" cy="4937760"/>
          </a:xfrm>
          <a:prstGeom prst="roundRect">
            <a:avLst/>
          </a:prstGeom>
          <a:solidFill>
            <a:srgbClr val="131B2C"/>
          </a:solidFill>
          <a:ln w="12700">
            <a:solidFill>
              <a:srgbClr val="26334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1645920"/>
            <a:ext cx="1033272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b="1" sz="1300">
                <a:solidFill>
                  <a:srgbClr val="38BDF8"/>
                </a:solidFill>
                <a:latin typeface="Segoe UI"/>
              </a:rPr>
              <a:t>ATTACK VECTOR </a:t>
            </a:r>
            <a:r>
              <a:rPr sz="1300">
                <a:solidFill>
                  <a:srgbClr val="38BDF8"/>
                </a:solidFill>
                <a:latin typeface="Segoe UI"/>
              </a:rPr>
              <a:t>REAL-WORLD THREAT MECHANISM                  </a:t>
            </a:r>
            <a:r>
              <a:rPr b="1" sz="1300">
                <a:solidFill>
                  <a:srgbClr val="38BDF8"/>
                </a:solidFill>
                <a:latin typeface="Segoe UI"/>
              </a:rPr>
              <a:t>ALLOWLIST (KEYLIME)      </a:t>
            </a:r>
            <a:r>
              <a:rPr b="1" sz="1300">
                <a:solidFill>
                  <a:srgbClr val="38BDF8"/>
                </a:solidFill>
                <a:latin typeface="Segoe UI"/>
              </a:rPr>
              <a:t>PRAHARI (BEHAVIOURAL)        </a:t>
            </a:r>
            <a:r>
              <a:rPr b="1" sz="1300">
                <a:solidFill>
                  <a:srgbClr val="38BDF8"/>
                </a:solidFill>
                <a:latin typeface="Segoe UI"/>
              </a:rPr>
              <a:t>VERDICT </a:t>
            </a:r>
          </a:p>
          <a:p>
            <a:pPr>
              <a:spcAft>
                <a:spcPts val="1400"/>
              </a:spcAft>
            </a:pPr>
            <a:r>
              <a:rPr b="1" sz="1200">
                <a:solidFill>
                  <a:srgbClr val="F8FAFC"/>
                </a:solidFill>
                <a:latin typeface="Consolas"/>
              </a:rPr>
              <a:t>Tamper        </a:t>
            </a:r>
            <a:r>
              <a:rPr sz="1200">
                <a:solidFill>
                  <a:srgbClr val="94A3B8"/>
                </a:solidFill>
                <a:latin typeface="Consolas"/>
              </a:rPr>
              <a:t>Direct byte modification in measured binary  </a:t>
            </a:r>
            <a:r>
              <a:rPr b="1" sz="1200">
                <a:solidFill>
                  <a:srgbClr val="34D399"/>
                </a:solidFill>
                <a:latin typeface="Consolas"/>
              </a:rPr>
              <a:t>DETECT (Hash Mismatch)   </a:t>
            </a:r>
            <a:r>
              <a:rPr b="1" sz="1200">
                <a:solidFill>
                  <a:srgbClr val="34D399"/>
                </a:solidFill>
                <a:latin typeface="Consolas"/>
              </a:rPr>
              <a:t>DETECT (Tampered Hash)       </a:t>
            </a:r>
            <a:r>
              <a:rPr b="1" sz="1200">
                <a:solidFill>
                  <a:srgbClr val="64748B"/>
                </a:solidFill>
                <a:latin typeface="Consolas"/>
              </a:rPr>
              <a:t>Caught By Both </a:t>
            </a:r>
          </a:p>
          <a:p>
            <a:pPr>
              <a:spcAft>
                <a:spcPts val="1400"/>
              </a:spcAft>
            </a:pPr>
            <a:r>
              <a:rPr b="1" sz="1200">
                <a:solidFill>
                  <a:srgbClr val="F8FAFC"/>
                </a:solidFill>
                <a:latin typeface="Consolas"/>
              </a:rPr>
              <a:t>Insert        </a:t>
            </a:r>
            <a:r>
              <a:rPr sz="1200">
                <a:solidFill>
                  <a:srgbClr val="94A3B8"/>
                </a:solidFill>
                <a:latin typeface="Consolas"/>
              </a:rPr>
              <a:t>Rogue injected kernel module / persistence payload </a:t>
            </a:r>
            <a:r>
              <a:rPr b="1" sz="1200">
                <a:solidFill>
                  <a:srgbClr val="34D399"/>
                </a:solidFill>
                <a:latin typeface="Consolas"/>
              </a:rPr>
              <a:t>DETECT (Unknown Hash)    </a:t>
            </a:r>
            <a:r>
              <a:rPr b="1" sz="1200">
                <a:solidFill>
                  <a:srgbClr val="34D399"/>
                </a:solidFill>
                <a:latin typeface="Consolas"/>
              </a:rPr>
              <a:t>DETECT (Unknown + Sequence)  </a:t>
            </a:r>
            <a:r>
              <a:rPr b="1" sz="1200">
                <a:solidFill>
                  <a:srgbClr val="64748B"/>
                </a:solidFill>
                <a:latin typeface="Consolas"/>
              </a:rPr>
              <a:t>Caught By Both </a:t>
            </a:r>
          </a:p>
          <a:p>
            <a:pPr>
              <a:spcAft>
                <a:spcPts val="1400"/>
              </a:spcAft>
            </a:pPr>
            <a:r>
              <a:rPr b="1" sz="1200">
                <a:solidFill>
                  <a:srgbClr val="F8FAFC"/>
                </a:solidFill>
                <a:latin typeface="Consolas"/>
              </a:rPr>
              <a:t>Reorder       </a:t>
            </a:r>
            <a:r>
              <a:rPr sz="1200">
                <a:solidFill>
                  <a:srgbClr val="94A3B8"/>
                </a:solidFill>
                <a:latin typeface="Consolas"/>
              </a:rPr>
              <a:t>Permuting execution order of legitimate components </a:t>
            </a:r>
            <a:r>
              <a:rPr b="1" sz="1200">
                <a:solidFill>
                  <a:srgbClr val="F87171"/>
                </a:solidFill>
                <a:latin typeface="Consolas"/>
              </a:rPr>
              <a:t>MISS (Hashes Valid)      </a:t>
            </a:r>
            <a:r>
              <a:rPr b="1" sz="1200">
                <a:solidFill>
                  <a:srgbClr val="34D399"/>
                </a:solidFill>
                <a:latin typeface="Consolas"/>
              </a:rPr>
              <a:t>DETECT (Sequence Anomaly)    </a:t>
            </a:r>
            <a:r>
              <a:rPr b="1" sz="1200">
                <a:solidFill>
                  <a:srgbClr val="34D399"/>
                </a:solidFill>
                <a:latin typeface="Consolas"/>
              </a:rPr>
              <a:t>PRAHARI Advantage </a:t>
            </a:r>
          </a:p>
          <a:p>
            <a:pPr>
              <a:spcAft>
                <a:spcPts val="1400"/>
              </a:spcAft>
            </a:pPr>
            <a:r>
              <a:rPr b="1" sz="1200">
                <a:solidFill>
                  <a:srgbClr val="F8FAFC"/>
                </a:solidFill>
                <a:latin typeface="Consolas"/>
              </a:rPr>
              <a:t>Substitute    </a:t>
            </a:r>
            <a:r>
              <a:rPr sz="1200">
                <a:solidFill>
                  <a:srgbClr val="94A3B8"/>
                </a:solidFill>
                <a:latin typeface="Consolas"/>
              </a:rPr>
              <a:t>Relocating authentic signed binary (BlackLotus) </a:t>
            </a:r>
            <a:r>
              <a:rPr b="1" sz="1200">
                <a:solidFill>
                  <a:srgbClr val="F87171"/>
                </a:solidFill>
                <a:latin typeface="Consolas"/>
              </a:rPr>
              <a:t>MISS (Hashes Valid)      </a:t>
            </a:r>
            <a:r>
              <a:rPr b="1" sz="1200">
                <a:solidFill>
                  <a:srgbClr val="34D399"/>
                </a:solidFill>
                <a:latin typeface="Consolas"/>
              </a:rPr>
              <a:t>DETECT (Sequence Anomaly)    </a:t>
            </a:r>
            <a:r>
              <a:rPr b="1" sz="1200">
                <a:solidFill>
                  <a:srgbClr val="34D399"/>
                </a:solidFill>
                <a:latin typeface="Consolas"/>
              </a:rPr>
              <a:t>PRAHARI Advantage 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A0F1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38BD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320040"/>
            <a:ext cx="106984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1">
                <a:solidFill>
                  <a:srgbClr val="38BDF8"/>
                </a:solidFill>
                <a:latin typeface="Segoe UI"/>
              </a:rPr>
              <a:t>ARCHITECTURE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594360"/>
            <a:ext cx="106984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300" b="1">
                <a:solidFill>
                  <a:srgbClr val="F8FAFC"/>
                </a:solidFill>
                <a:latin typeface="Segoe UI"/>
              </a:rPr>
              <a:t>End-to-End System Pipeline</a:t>
            </a:r>
          </a:p>
          <a:p>
            <a:r>
              <a:rPr sz="1200">
                <a:solidFill>
                  <a:srgbClr val="94A3B8"/>
                </a:solidFill>
                <a:latin typeface="Segoe UI"/>
              </a:rPr>
              <a:t>Securityfs Event Ingestion -&gt; Dual Tokenizer -&gt; N-Gram Detector -&gt; Hybrid Signer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1417320"/>
            <a:ext cx="10698480" cy="5029200"/>
          </a:xfrm>
          <a:prstGeom prst="roundRect">
            <a:avLst/>
          </a:prstGeom>
          <a:solidFill>
            <a:srgbClr val="131B2C"/>
          </a:solidFill>
          <a:ln w="12700">
            <a:solidFill>
              <a:srgbClr val="06B6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Picture 6" descr="p_arch_hi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14400" y="1600200"/>
            <a:ext cx="10332720" cy="5175927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A0F1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38BD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320040"/>
            <a:ext cx="106984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1">
                <a:solidFill>
                  <a:srgbClr val="38BDF8"/>
                </a:solidFill>
                <a:latin typeface="Segoe UI"/>
              </a:rPr>
              <a:t>INTERFACE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594360"/>
            <a:ext cx="106984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300" b="1">
                <a:solidFill>
                  <a:srgbClr val="F8FAFC"/>
                </a:solidFill>
                <a:latin typeface="Segoe UI"/>
              </a:rPr>
              <a:t>Live Operator Terminal UI &amp; HTML Security Portal</a:t>
            </a:r>
          </a:p>
          <a:p>
            <a:r>
              <a:rPr sz="1200">
                <a:solidFill>
                  <a:srgbClr val="94A3B8"/>
                </a:solidFill>
                <a:latin typeface="Segoe UI"/>
              </a:rPr>
              <a:t>Built with Textual — optimized for SSH server administration with dynamic attack simulation hotkeys.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1417320"/>
            <a:ext cx="10698480" cy="5029200"/>
          </a:xfrm>
          <a:prstGeom prst="roundRect">
            <a:avLst/>
          </a:prstGeom>
          <a:solidFill>
            <a:srgbClr val="131B2C"/>
          </a:solidFill>
          <a:ln w="12700"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Picture 6" descr="p_tui_hi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80160" y="1554480"/>
            <a:ext cx="9601200" cy="6005456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A0F1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38BD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320040"/>
            <a:ext cx="106984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1">
                <a:solidFill>
                  <a:srgbClr val="38BDF8"/>
                </a:solidFill>
                <a:latin typeface="Segoe UI"/>
              </a:rPr>
              <a:t>ENGINEERING &amp; SOVEREIGNTY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594360"/>
            <a:ext cx="106984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300" b="1">
                <a:solidFill>
                  <a:srgbClr val="F8FAFC"/>
                </a:solidFill>
                <a:latin typeface="Segoe UI"/>
              </a:rPr>
              <a:t>Open Source Stack, DPDP Act 2023 &amp; Indigenous Security</a:t>
            </a:r>
          </a:p>
          <a:p>
            <a:r>
              <a:rPr sz="1200">
                <a:solidFill>
                  <a:srgbClr val="94A3B8"/>
                </a:solidFill>
                <a:latin typeface="Segoe UI"/>
              </a:rPr>
              <a:t>Standards-compliant, sovereign security infrastructure for Atmanirbhar Bharat.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1463040"/>
            <a:ext cx="5120640" cy="4937760"/>
          </a:xfrm>
          <a:prstGeom prst="roundRect">
            <a:avLst/>
          </a:prstGeom>
          <a:solidFill>
            <a:srgbClr val="131B2C"/>
          </a:solidFill>
          <a:ln w="12700">
            <a:solidFill>
              <a:srgbClr val="26334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32688" y="1609344"/>
            <a:ext cx="4718303" cy="46451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050" b="1">
                <a:solidFill>
                  <a:srgbClr val="38BDF8"/>
                </a:solidFill>
                <a:latin typeface="Segoe UI"/>
              </a:rPr>
              <a:t>[OPEN SOURCE TECH STACK] </a:t>
            </a:r>
            <a:r>
              <a:rPr sz="1550" b="1">
                <a:solidFill>
                  <a:srgbClr val="F8FAFC"/>
                </a:solidFill>
                <a:latin typeface="Segoe UI"/>
              </a:rPr>
              <a:t>Modular, Inspectable, Tested</a:t>
            </a:r>
          </a:p>
          <a:p>
            <a:pPr>
              <a:spcAft>
                <a:spcPts val="500"/>
              </a:spcAft>
            </a:pPr>
            <a:r>
              <a:rPr sz="1200" b="1">
                <a:solidFill>
                  <a:srgbClr val="38BDF8"/>
                </a:solidFill>
                <a:latin typeface="Segoe UI"/>
              </a:rPr>
              <a:t>Language &amp; Package: </a:t>
            </a:r>
            <a:r>
              <a:rPr sz="1200">
                <a:solidFill>
                  <a:srgbClr val="F8FAFC"/>
                </a:solidFill>
                <a:latin typeface="Segoe UI"/>
              </a:rPr>
              <a:t>Python 3.9+ pip-installable library with zero exotic binary blobs.</a:t>
            </a:r>
          </a:p>
          <a:p>
            <a:pPr>
              <a:spcAft>
                <a:spcPts val="500"/>
              </a:spcAft>
            </a:pPr>
            <a:r>
              <a:rPr sz="1200" b="1">
                <a:solidFill>
                  <a:srgbClr val="C084FC"/>
                </a:solidFill>
                <a:latin typeface="Segoe UI"/>
              </a:rPr>
              <a:t>Post-Quantum Cryptography: </a:t>
            </a:r>
            <a:r>
              <a:rPr sz="1200">
                <a:solidFill>
                  <a:srgbClr val="F8FAFC"/>
                </a:solidFill>
                <a:latin typeface="Segoe UI"/>
              </a:rPr>
              <a:t>OpenSSL 3.5 (Apache-2.0) native ML-DSA-65 &amp; ECDSA P-256.</a:t>
            </a:r>
          </a:p>
          <a:p>
            <a:pPr>
              <a:spcAft>
                <a:spcPts val="500"/>
              </a:spcAft>
            </a:pPr>
            <a:r>
              <a:rPr sz="1200" b="1">
                <a:solidFill>
                  <a:srgbClr val="F8FAFC"/>
                </a:solidFill>
                <a:latin typeface="Segoe UI"/>
              </a:rPr>
              <a:t>Operator Interface: </a:t>
            </a:r>
            <a:r>
              <a:rPr sz="1200">
                <a:solidFill>
                  <a:srgbClr val="F8FAFC"/>
                </a:solidFill>
                <a:latin typeface="Segoe UI"/>
              </a:rPr>
              <a:t>Textual (MIT) TUI with real-time live simulation hotkeys [c],[t],[i],[r],[s].</a:t>
            </a:r>
          </a:p>
          <a:p>
            <a:pPr>
              <a:spcAft>
                <a:spcPts val="500"/>
              </a:spcAft>
            </a:pPr>
            <a:r>
              <a:rPr sz="1200" b="1">
                <a:solidFill>
                  <a:srgbClr val="94A3B8"/>
                </a:solidFill>
                <a:latin typeface="Segoe UI"/>
              </a:rPr>
              <a:t>HTML Dashboard: </a:t>
            </a:r>
            <a:r>
              <a:rPr sz="1200">
                <a:solidFill>
                  <a:srgbClr val="F8FAFC"/>
                </a:solidFill>
                <a:latin typeface="Segoe UI"/>
              </a:rPr>
              <a:t>Plotly (MIT) interactive sequence timeline (boot.html).</a:t>
            </a:r>
          </a:p>
          <a:p>
            <a:pPr>
              <a:spcAft>
                <a:spcPts val="500"/>
              </a:spcAft>
            </a:pPr>
            <a:r>
              <a:rPr sz="1200" b="1">
                <a:solidFill>
                  <a:srgbClr val="34D399"/>
                </a:solidFill>
                <a:latin typeface="Segoe UI"/>
              </a:rPr>
              <a:t>Automated Tests: </a:t>
            </a:r>
            <a:r>
              <a:rPr sz="1200">
                <a:solidFill>
                  <a:srgbClr val="F8FAFC"/>
                </a:solidFill>
                <a:latin typeface="Segoe UI"/>
              </a:rPr>
              <a:t>100% test coverage with GitHub Actions CI workflow.</a:t>
            </a:r>
          </a:p>
          <a:p>
            <a:pPr>
              <a:spcAft>
                <a:spcPts val="500"/>
              </a:spcAft>
            </a:pPr>
            <a:r>
              <a:rPr sz="1200" b="1">
                <a:solidFill>
                  <a:srgbClr val="34D399"/>
                </a:solidFill>
                <a:latin typeface="Segoe UI"/>
              </a:rPr>
              <a:t>Licensing: </a:t>
            </a:r>
            <a:r>
              <a:rPr sz="1200">
                <a:solidFill>
                  <a:srgbClr val="F8FAFC"/>
                </a:solidFill>
                <a:latin typeface="Segoe UI"/>
              </a:rPr>
              <a:t>100% Open Source under the MIT License.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17920" y="1463040"/>
            <a:ext cx="5120640" cy="4937760"/>
          </a:xfrm>
          <a:prstGeom prst="roundRect">
            <a:avLst/>
          </a:prstGeom>
          <a:solidFill>
            <a:srgbClr val="131B2C"/>
          </a:solidFill>
          <a:ln w="12700"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419088" y="1609344"/>
            <a:ext cx="4718303" cy="46451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050" b="1">
                <a:solidFill>
                  <a:srgbClr val="34D399"/>
                </a:solidFill>
                <a:latin typeface="Segoe UI"/>
              </a:rPr>
              <a:t>[COMPLIANCE &amp; IMPACT] </a:t>
            </a:r>
            <a:r>
              <a:rPr sz="1550" b="1">
                <a:solidFill>
                  <a:srgbClr val="F8FAFC"/>
                </a:solidFill>
                <a:latin typeface="Segoe UI"/>
              </a:rPr>
              <a:t>DPDP Act 2023 &amp; Self-Reliance</a:t>
            </a:r>
          </a:p>
          <a:p>
            <a:pPr>
              <a:spcAft>
                <a:spcPts val="500"/>
              </a:spcAft>
            </a:pPr>
            <a:r>
              <a:rPr sz="1200" b="1">
                <a:solidFill>
                  <a:srgbClr val="34D399"/>
                </a:solidFill>
                <a:latin typeface="Segoe UI"/>
              </a:rPr>
              <a:t>DPDP Act 2023 Compliance: </a:t>
            </a:r>
            <a:r>
              <a:rPr sz="1200">
                <a:solidFill>
                  <a:srgbClr val="F8FAFC"/>
                </a:solidFill>
                <a:latin typeface="Segoe UI"/>
              </a:rPr>
              <a:t>Zero personal data collected or stored. Telemetry is restricted strictly to local file paths and cryptographic hashes.</a:t>
            </a:r>
          </a:p>
          <a:p>
            <a:pPr>
              <a:spcAft>
                <a:spcPts val="500"/>
              </a:spcAft>
            </a:pPr>
            <a:r>
              <a:rPr sz="1200" b="1">
                <a:solidFill>
                  <a:srgbClr val="C084FC"/>
                </a:solidFill>
                <a:latin typeface="Segoe UI"/>
              </a:rPr>
              <a:t>RFC 9019 Compliance: </a:t>
            </a:r>
            <a:r>
              <a:rPr sz="1200">
                <a:solidFill>
                  <a:srgbClr val="F8FAFC"/>
                </a:solidFill>
                <a:latin typeface="Segoe UI"/>
              </a:rPr>
              <a:t>Complies with Internet Engineering Task Force hybrid post-quantum attestation standards.</a:t>
            </a:r>
          </a:p>
          <a:p>
            <a:pPr>
              <a:spcAft>
                <a:spcPts val="500"/>
              </a:spcAft>
            </a:pPr>
            <a:r>
              <a:rPr sz="1200" b="1">
                <a:solidFill>
                  <a:srgbClr val="C084FC"/>
                </a:solidFill>
                <a:latin typeface="Segoe UI"/>
              </a:rPr>
              <a:t>NSA CNSA 2.0 Alignment: </a:t>
            </a:r>
            <a:r>
              <a:rPr sz="1200">
                <a:solidFill>
                  <a:srgbClr val="F8FAFC"/>
                </a:solidFill>
                <a:latin typeface="Segoe UI"/>
              </a:rPr>
              <a:t>Satisfies highest-priority firmware signature transition guidelines.</a:t>
            </a:r>
          </a:p>
          <a:p>
            <a:pPr>
              <a:spcAft>
                <a:spcPts val="500"/>
              </a:spcAft>
            </a:pPr>
            <a:r>
              <a:rPr sz="1200" b="1">
                <a:solidFill>
                  <a:srgbClr val="34D399"/>
                </a:solidFill>
                <a:latin typeface="Segoe UI"/>
              </a:rPr>
              <a:t>National Self-Reliance: </a:t>
            </a:r>
            <a:r>
              <a:rPr sz="1200">
                <a:solidFill>
                  <a:srgbClr val="F8FAFC"/>
                </a:solidFill>
                <a:latin typeface="Segoe UI"/>
              </a:rPr>
              <a:t>Eliminates reliance on proprietary foreign attestation frameworks; runs on existing Linux servers immediately.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