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8BDF8"/>
                </a:solidFill>
                <a:latin typeface="Segoe UI"/>
              </a:rPr>
              <a:t>C-DAC / MEITY AI ENABLED OS HACKATHON 2026  •  TRACK 2 (OS &amp; KERNEL LEVEL)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600" b="1">
                <a:solidFill>
                  <a:srgbClr val="F8FAFC"/>
                </a:solidFill>
                <a:latin typeface="Segoe UI"/>
              </a:rPr>
              <a:t>PRAHARI</a:t>
            </a:r>
          </a:p>
          <a:p>
            <a:r>
              <a:rPr sz="2200" b="1">
                <a:solidFill>
                  <a:srgbClr val="34D399"/>
                </a:solidFill>
                <a:latin typeface="Segoe UI"/>
              </a:rPr>
              <a:t>Behavioural Boot Attestation with Dual Hybrid Post-Quantum Signing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94A3B8"/>
                </a:solidFill>
                <a:latin typeface="Segoe UI"/>
              </a:rPr>
              <a:t>Catches compromised boots when every signature is valid and every hash matches.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029200"/>
            <a:ext cx="10360152" cy="109728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166360"/>
            <a:ext cx="9966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Segoe UI"/>
              </a:rPr>
              <a:t>Problem Statement 3: AI-Assisted Secure Boot &amp; Integrity Verification  |  Inbuilt N-Gram Behavioral Model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Team: Shaik Abdul Basith, Shaik Awaiz, Shaik Abdul Muqeeth  •  GitHub: github.com/basithladdu/prahari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THE THREAT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Why Traditional Boot Attestation Fails Against Modern Bootkits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Signatures verify author identity — they say nothing about whether the execution order is normal.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0233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19072"/>
            <a:ext cx="4718303" cy="3694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F87171"/>
                </a:solidFill>
                <a:latin typeface="Segoe UI"/>
              </a:rPr>
              <a:t>[THE ALLOWLIST FALLACY] </a:t>
            </a:r>
            <a:r>
              <a:rPr sz="1600" b="1">
                <a:solidFill>
                  <a:srgbClr val="F8FAFC"/>
                </a:solidFill>
                <a:latin typeface="Segoe UI"/>
              </a:rPr>
              <a:t>Traditional Measured Boot (Keylime)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94A3B8"/>
                </a:solidFill>
                <a:latin typeface="Segoe UI"/>
              </a:rPr>
              <a:t>Static Guest List: </a:t>
            </a:r>
            <a:r>
              <a:rPr sz="1250">
                <a:solidFill>
                  <a:srgbClr val="F8FAFC"/>
                </a:solidFill>
                <a:latin typeface="Segoe UI"/>
              </a:rPr>
              <a:t>Compares measured file hashes against a manually maintained allowlist.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94A3B8"/>
                </a:solidFill>
                <a:latin typeface="Segoe UI"/>
              </a:rPr>
              <a:t>Single Question: </a:t>
            </a:r>
            <a:r>
              <a:rPr sz="1250">
                <a:solidFill>
                  <a:srgbClr val="F8FAFC"/>
                </a:solidFill>
                <a:latin typeface="Segoe UI"/>
              </a:rPr>
              <a:t>'Does this hash appear in our database of known-good files?'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87171"/>
                </a:solidFill>
                <a:latin typeface="Segoe UI"/>
              </a:rPr>
              <a:t>Fatal Blind Spot: </a:t>
            </a:r>
            <a:r>
              <a:rPr sz="1250">
                <a:solidFill>
                  <a:srgbClr val="F8FAFC"/>
                </a:solidFill>
                <a:latin typeface="Segoe UI"/>
              </a:rPr>
              <a:t>Cannot see event order, timing, race conditions, or binary permutations.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87171"/>
                </a:solidFill>
                <a:latin typeface="Segoe UI"/>
              </a:rPr>
              <a:t>Outcome: </a:t>
            </a:r>
            <a:r>
              <a:rPr sz="1250">
                <a:solidFill>
                  <a:srgbClr val="F8FAFC"/>
                </a:solidFill>
                <a:latin typeface="Segoe UI"/>
              </a:rPr>
              <a:t>If an attacker runs genuine signed binaries in a malicious sequence, allowlists approve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120640" cy="40233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719072"/>
            <a:ext cx="4718303" cy="3694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FBBF24"/>
                </a:solidFill>
                <a:latin typeface="Segoe UI"/>
              </a:rPr>
              <a:t>[REAL-WORLD VECTORS] </a:t>
            </a:r>
            <a:r>
              <a:rPr sz="1600" b="1">
                <a:solidFill>
                  <a:srgbClr val="F8FAFC"/>
                </a:solidFill>
                <a:latin typeface="Segoe UI"/>
              </a:rPr>
              <a:t>BlackLotus (2023) &amp; Bootkitty (2024)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BlackLotus: </a:t>
            </a:r>
            <a:r>
              <a:rPr sz="1250">
                <a:solidFill>
                  <a:srgbClr val="F8FAFC"/>
                </a:solidFill>
                <a:latin typeface="Segoe UI"/>
              </a:rPr>
              <a:t>Bypassed UEFI Secure Boot by deploying authentic, validly-signed Microsoft binaries that harbored known CVEs.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Bootkitty: </a:t>
            </a:r>
            <a:r>
              <a:rPr sz="1250">
                <a:solidFill>
                  <a:srgbClr val="F8FAFC"/>
                </a:solidFill>
                <a:latin typeface="Segoe UI"/>
              </a:rPr>
              <a:t>Compromised Ubuntu Secure Boot through signed components via LogoFAIL memory vulnerabilities.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BBF24"/>
                </a:solidFill>
                <a:latin typeface="Segoe UI"/>
              </a:rPr>
              <a:t>The Reality: </a:t>
            </a:r>
            <a:r>
              <a:rPr sz="1250">
                <a:solidFill>
                  <a:srgbClr val="F8FAFC"/>
                </a:solidFill>
                <a:latin typeface="Segoe UI"/>
              </a:rPr>
              <a:t>Every signature was valid. Every hash matched. The machine was owned anyway.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Segoe UI"/>
              </a:rPr>
              <a:t>The Key Signal: </a:t>
            </a:r>
            <a:r>
              <a:rPr sz="1250">
                <a:solidFill>
                  <a:srgbClr val="F8FAFC"/>
                </a:solidFill>
                <a:latin typeface="Segoe UI"/>
              </a:rPr>
              <a:t>Boot event sequence order is the only remaining anomaly signal.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715000"/>
            <a:ext cx="10607040" cy="6858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Segoe UI"/>
              </a:rPr>
              <a:t>💡 PRAHARI Principle: Boot integrity is a property of the ORDER of events, not of individual hashes.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CORE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Dual-Axis Token Projection &amp; N-Gram Sequence Modeling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Zero kernel patches, zero new hardware — reads native Linux securityfs IMA measurement logs.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19072"/>
            <a:ext cx="2980944" cy="451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38BDF8"/>
                </a:solidFill>
                <a:latin typeface="Segoe UI"/>
              </a:rPr>
              <a:t>[1. PROJECTION] </a:t>
            </a:r>
            <a:r>
              <a:rPr sz="1600" b="1">
                <a:solidFill>
                  <a:srgbClr val="F8FAFC"/>
                </a:solidFill>
                <a:latin typeface="Segoe UI"/>
              </a:rPr>
              <a:t>Dual-Axis Tokenization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Identity Axis: </a:t>
            </a:r>
            <a:r>
              <a:rPr sz="1250">
                <a:solidFill>
                  <a:srgbClr val="F8FAFC"/>
                </a:solidFill>
                <a:latin typeface="Segoe UI"/>
              </a:rPr>
              <a:t>Normalised path (/init, /bin/systemd) — deterministic across boots.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Segoe UI"/>
              </a:rPr>
              <a:t>Content Axis: </a:t>
            </a:r>
            <a:r>
              <a:rPr sz="1250">
                <a:solidFill>
                  <a:srgbClr val="F8FAFC"/>
                </a:solidFill>
                <a:latin typeface="Segoe UI"/>
              </a:rPr>
              <a:t>Cryptographic hash — catches direct byte corruption.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94A3B8"/>
                </a:solidFill>
                <a:latin typeface="Segoe UI"/>
              </a:rPr>
              <a:t>The Innovation: </a:t>
            </a:r>
            <a:r>
              <a:rPr sz="1250">
                <a:solidFill>
                  <a:srgbClr val="F8FAFC"/>
                </a:solidFill>
                <a:latin typeface="Segoe UI"/>
              </a:rPr>
              <a:t>Projects continuous measurement streams into discrete tokens for sequence modeling.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94A3B8"/>
                </a:solidFill>
                <a:latin typeface="Segoe UI"/>
              </a:rPr>
              <a:t>Native IMA: </a:t>
            </a:r>
            <a:r>
              <a:rPr sz="1250">
                <a:solidFill>
                  <a:srgbClr val="F8FAFC"/>
                </a:solidFill>
                <a:latin typeface="Segoe UI"/>
              </a:rPr>
              <a:t>Reads /sys/kernel/security/ima/ascii_runtime_measurements directly.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1719072"/>
            <a:ext cx="2980944" cy="451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34D399"/>
                </a:solidFill>
                <a:latin typeface="Segoe UI"/>
              </a:rPr>
              <a:t>[2. LEARNING] </a:t>
            </a:r>
            <a:r>
              <a:rPr sz="1600" b="1">
                <a:solidFill>
                  <a:srgbClr val="F8FAFC"/>
                </a:solidFill>
                <a:latin typeface="Segoe UI"/>
              </a:rPr>
              <a:t>N-Gram Behavioral Model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Segoe UI"/>
              </a:rPr>
              <a:t>Rapid Training: </a:t>
            </a:r>
            <a:r>
              <a:rPr sz="1250">
                <a:solidFill>
                  <a:srgbClr val="F8FAFC"/>
                </a:solidFill>
                <a:latin typeface="Segoe UI"/>
              </a:rPr>
              <a:t>Converges within 4-5 baseline boots on physical machines.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Segoe UI"/>
              </a:rPr>
              <a:t>100% Inspectable: </a:t>
            </a:r>
            <a:r>
              <a:rPr sz="1250">
                <a:solidFill>
                  <a:srgbClr val="F8FAFC"/>
                </a:solidFill>
                <a:latin typeface="Segoe UI"/>
              </a:rPr>
              <a:t>Every alert points to a concrete transition: A -&gt; B -&gt; C.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BBF24"/>
                </a:solidFill>
                <a:latin typeface="Segoe UI"/>
              </a:rPr>
              <a:t>Zero Black Box: </a:t>
            </a:r>
            <a:r>
              <a:rPr sz="1250">
                <a:solidFill>
                  <a:srgbClr val="F8FAFC"/>
                </a:solidFill>
                <a:latin typeface="Segoe UI"/>
              </a:rPr>
              <a:t>Avoids opaque neural weights (DeepLog/LogBERT) that require 10,000+ logs.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Actionable: </a:t>
            </a:r>
            <a:r>
              <a:rPr sz="1250">
                <a:solidFill>
                  <a:srgbClr val="F8FAFC"/>
                </a:solidFill>
                <a:latin typeface="Segoe UI"/>
              </a:rPr>
              <a:t>System administrators can verify and audit every flagged anomaly.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1719072"/>
            <a:ext cx="2980944" cy="451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C084FC"/>
                </a:solidFill>
                <a:latin typeface="Segoe UI"/>
              </a:rPr>
              <a:t>[3. POST-QUANTUM] </a:t>
            </a:r>
            <a:r>
              <a:rPr sz="1600" b="1">
                <a:solidFill>
                  <a:srgbClr val="F8FAFC"/>
                </a:solidFill>
                <a:latin typeface="Segoe UI"/>
              </a:rPr>
              <a:t>Dual Hybrid Signing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C084FC"/>
                </a:solidFill>
                <a:latin typeface="Segoe UI"/>
              </a:rPr>
              <a:t>Dual Signatures: </a:t>
            </a:r>
            <a:r>
              <a:rPr sz="1250">
                <a:solidFill>
                  <a:srgbClr val="F8FAFC"/>
                </a:solidFill>
                <a:latin typeface="Segoe UI"/>
              </a:rPr>
              <a:t>ECDSA P-256 (today) + ML-DSA-65 (FIPS 204 quantum resistance).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C084FC"/>
                </a:solidFill>
                <a:latin typeface="Segoe UI"/>
              </a:rPr>
              <a:t>RFC 9019 Standard: </a:t>
            </a:r>
            <a:r>
              <a:rPr sz="1250">
                <a:solidFill>
                  <a:srgbClr val="F8FAFC"/>
                </a:solidFill>
                <a:latin typeface="Segoe UI"/>
              </a:rPr>
              <a:t>Both signatures must validate for attestation approval.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Segoe UI"/>
              </a:rPr>
              <a:t>NSA CNSA 2.0: </a:t>
            </a:r>
            <a:r>
              <a:rPr sz="1250">
                <a:solidFill>
                  <a:srgbClr val="F8FAFC"/>
                </a:solidFill>
                <a:latin typeface="Segoe UI"/>
              </a:rPr>
              <a:t>Directly satisfies national priority for quantum-safe boot firmware.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94A3B8"/>
                </a:solidFill>
                <a:latin typeface="Segoe UI"/>
              </a:rPr>
              <a:t>OpenSSL 3.5: </a:t>
            </a:r>
            <a:r>
              <a:rPr sz="1250">
                <a:solidFill>
                  <a:srgbClr val="F8FAFC"/>
                </a:solidFill>
                <a:latin typeface="Segoe UI"/>
              </a:rPr>
              <a:t>Native implementation with zero exotic dependencies.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4-Vector Threat Benchmark: Allowlist vs PRAHARI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Comprehensive evaluation across synthetic and hardware-captured Linux boot logs.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484632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300">
                <a:solidFill>
                  <a:srgbClr val="38BDF8"/>
                </a:solidFill>
                <a:latin typeface="Segoe UI"/>
              </a:rPr>
              <a:t>ATTACK VECTOR </a:t>
            </a:r>
            <a:r>
              <a:rPr sz="1300">
                <a:solidFill>
                  <a:srgbClr val="38BDF8"/>
                </a:solidFill>
                <a:latin typeface="Segoe UI"/>
              </a:rPr>
              <a:t>REAL-WORLD THREAT MECHANISM                  </a:t>
            </a:r>
            <a:r>
              <a:rPr b="1" sz="1300">
                <a:solidFill>
                  <a:srgbClr val="38BDF8"/>
                </a:solidFill>
                <a:latin typeface="Segoe UI"/>
              </a:rPr>
              <a:t>ALLOWLIST (KEYLIME)      </a:t>
            </a:r>
            <a:r>
              <a:rPr b="1" sz="1300">
                <a:solidFill>
                  <a:srgbClr val="38BDF8"/>
                </a:solidFill>
                <a:latin typeface="Segoe UI"/>
              </a:rPr>
              <a:t>PRAHARI (BEHAVIOURAL)        </a:t>
            </a:r>
            <a:r>
              <a:rPr b="1" sz="1300">
                <a:solidFill>
                  <a:srgbClr val="38BDF8"/>
                </a:solidFill>
                <a:latin typeface="Segoe UI"/>
              </a:rPr>
              <a:t>VERDICT </a:t>
            </a:r>
          </a:p>
          <a:p>
            <a:pPr>
              <a:spcAft>
                <a:spcPts val="1400"/>
              </a:spcAft>
            </a:pPr>
            <a:r>
              <a:rPr b="1" sz="1200">
                <a:solidFill>
                  <a:srgbClr val="F8FAFC"/>
                </a:solidFill>
                <a:latin typeface="Consolas"/>
              </a:rPr>
              <a:t>Tamper        </a:t>
            </a:r>
            <a:r>
              <a:rPr sz="1200">
                <a:solidFill>
                  <a:srgbClr val="94A3B8"/>
                </a:solidFill>
                <a:latin typeface="Consolas"/>
              </a:rPr>
              <a:t>Direct byte modification in measured binary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(Hash Mismatch)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(Tampered Hash)       </a:t>
            </a:r>
            <a:r>
              <a:rPr b="1" sz="1200">
                <a:solidFill>
                  <a:srgbClr val="64748B"/>
                </a:solidFill>
                <a:latin typeface="Consolas"/>
              </a:rPr>
              <a:t>Caught By Both </a:t>
            </a:r>
          </a:p>
          <a:p>
            <a:pPr>
              <a:spcAft>
                <a:spcPts val="1400"/>
              </a:spcAft>
            </a:pPr>
            <a:r>
              <a:rPr b="1" sz="1200">
                <a:solidFill>
                  <a:srgbClr val="F8FAFC"/>
                </a:solidFill>
                <a:latin typeface="Consolas"/>
              </a:rPr>
              <a:t>Insert        </a:t>
            </a:r>
            <a:r>
              <a:rPr sz="1200">
                <a:solidFill>
                  <a:srgbClr val="94A3B8"/>
                </a:solidFill>
                <a:latin typeface="Consolas"/>
              </a:rPr>
              <a:t>Rogue injected kernel module / persistence payload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(Unknown Hash)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(Unknown + Sequence)  </a:t>
            </a:r>
            <a:r>
              <a:rPr b="1" sz="1200">
                <a:solidFill>
                  <a:srgbClr val="64748B"/>
                </a:solidFill>
                <a:latin typeface="Consolas"/>
              </a:rPr>
              <a:t>Caught By Both </a:t>
            </a:r>
          </a:p>
          <a:p>
            <a:pPr>
              <a:spcAft>
                <a:spcPts val="1400"/>
              </a:spcAft>
            </a:pPr>
            <a:r>
              <a:rPr b="1" sz="1200">
                <a:solidFill>
                  <a:srgbClr val="F8FAFC"/>
                </a:solidFill>
                <a:latin typeface="Consolas"/>
              </a:rPr>
              <a:t>Reorder       </a:t>
            </a:r>
            <a:r>
              <a:rPr sz="1200">
                <a:solidFill>
                  <a:srgbClr val="94A3B8"/>
                </a:solidFill>
                <a:latin typeface="Consolas"/>
              </a:rPr>
              <a:t>Permuting execution order of legitimate components </a:t>
            </a:r>
            <a:r>
              <a:rPr b="1" sz="1200">
                <a:solidFill>
                  <a:srgbClr val="F87171"/>
                </a:solidFill>
                <a:latin typeface="Consolas"/>
              </a:rPr>
              <a:t>MISS (Hashes Valid)  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(Sequence Anomaly)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PRAHARI Advantage </a:t>
            </a:r>
          </a:p>
          <a:p>
            <a:pPr>
              <a:spcAft>
                <a:spcPts val="1400"/>
              </a:spcAft>
            </a:pPr>
            <a:r>
              <a:rPr b="1" sz="1200">
                <a:solidFill>
                  <a:srgbClr val="F8FAFC"/>
                </a:solidFill>
                <a:latin typeface="Consolas"/>
              </a:rPr>
              <a:t>Substitute    </a:t>
            </a:r>
            <a:r>
              <a:rPr sz="1200">
                <a:solidFill>
                  <a:srgbClr val="94A3B8"/>
                </a:solidFill>
                <a:latin typeface="Consolas"/>
              </a:rPr>
              <a:t>Relocating authentic signed binary (BlackLotus) </a:t>
            </a:r>
            <a:r>
              <a:rPr b="1" sz="1200">
                <a:solidFill>
                  <a:srgbClr val="F87171"/>
                </a:solidFill>
                <a:latin typeface="Consolas"/>
              </a:rPr>
              <a:t>MISS (Hashes Valid)  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(Sequence Anomaly)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PRAHARI Advantage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End-to-End System Pipeline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Securityfs Event Ingestion -&gt; Dual Tokenizer -&gt; N-Gram Detector -&gt; Hybrid Signer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_arch_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10332720" cy="51759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Live Operator Terminal UI &amp; HTML Security Portal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Built with Textual — optimized for SSH server administration with dynamic attack simulation hotkeys.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_tui_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600200"/>
            <a:ext cx="9601200" cy="66361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ENGINEERING &amp; SOVEREIGNTY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Open Source Stack, DPDP Act 2023 &amp; Indigenous Security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Standards-compliant, sovereign security infrastructure for Atmanirbhar Bharat.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84632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19072"/>
            <a:ext cx="4718303" cy="451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38BDF8"/>
                </a:solidFill>
                <a:latin typeface="Segoe UI"/>
              </a:rPr>
              <a:t>[OPEN SOURCE TECH STACK] </a:t>
            </a:r>
            <a:r>
              <a:rPr sz="1600" b="1">
                <a:solidFill>
                  <a:srgbClr val="F8FAFC"/>
                </a:solidFill>
                <a:latin typeface="Segoe UI"/>
              </a:rPr>
              <a:t>Modular, Inspectable, Tested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Language &amp; Package: </a:t>
            </a:r>
            <a:r>
              <a:rPr sz="1250">
                <a:solidFill>
                  <a:srgbClr val="F8FAFC"/>
                </a:solidFill>
                <a:latin typeface="Segoe UI"/>
              </a:rPr>
              <a:t>Python 3.9+ pip-installable library with zero exotic binary blobs.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C084FC"/>
                </a:solidFill>
                <a:latin typeface="Segoe UI"/>
              </a:rPr>
              <a:t>Post-Quantum Cryptography: </a:t>
            </a:r>
            <a:r>
              <a:rPr sz="1250">
                <a:solidFill>
                  <a:srgbClr val="F8FAFC"/>
                </a:solidFill>
                <a:latin typeface="Segoe UI"/>
              </a:rPr>
              <a:t>OpenSSL 3.5 (Apache-2.0) native ML-DSA-65 &amp; ECDSA P-256.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Operator Interface: </a:t>
            </a:r>
            <a:r>
              <a:rPr sz="1250">
                <a:solidFill>
                  <a:srgbClr val="F8FAFC"/>
                </a:solidFill>
                <a:latin typeface="Segoe UI"/>
              </a:rPr>
              <a:t>Textual (MIT) TUI with real-time live simulation hotkeys [c],[t],[i],[r],[s].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94A3B8"/>
                </a:solidFill>
                <a:latin typeface="Segoe UI"/>
              </a:rPr>
              <a:t>HTML Dashboard: </a:t>
            </a:r>
            <a:r>
              <a:rPr sz="1250">
                <a:solidFill>
                  <a:srgbClr val="F8FAFC"/>
                </a:solidFill>
                <a:latin typeface="Segoe UI"/>
              </a:rPr>
              <a:t>Plotly (MIT) interactive sequence timeline (boot.html).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Segoe UI"/>
              </a:rPr>
              <a:t>Automated Tests: </a:t>
            </a:r>
            <a:r>
              <a:rPr sz="1250">
                <a:solidFill>
                  <a:srgbClr val="F8FAFC"/>
                </a:solidFill>
                <a:latin typeface="Segoe UI"/>
              </a:rPr>
              <a:t>100% test coverage with GitHub Actions CI workflow.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Segoe UI"/>
              </a:rPr>
              <a:t>Licensing: </a:t>
            </a:r>
            <a:r>
              <a:rPr sz="1250">
                <a:solidFill>
                  <a:srgbClr val="F8FAFC"/>
                </a:solidFill>
                <a:latin typeface="Segoe UI"/>
              </a:rPr>
              <a:t>100% Open Source under the MIT License.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120640" cy="484632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719072"/>
            <a:ext cx="4718303" cy="451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34D399"/>
                </a:solidFill>
                <a:latin typeface="Segoe UI"/>
              </a:rPr>
              <a:t>[COMPLIANCE &amp; IMPACT] </a:t>
            </a:r>
            <a:r>
              <a:rPr sz="1600" b="1">
                <a:solidFill>
                  <a:srgbClr val="F8FAFC"/>
                </a:solidFill>
                <a:latin typeface="Segoe UI"/>
              </a:rPr>
              <a:t>DPDP Act 2023 &amp; Self-Reliance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Segoe UI"/>
              </a:rPr>
              <a:t>DPDP Act 2023 Compliance: </a:t>
            </a:r>
            <a:r>
              <a:rPr sz="1250">
                <a:solidFill>
                  <a:srgbClr val="F8FAFC"/>
                </a:solidFill>
                <a:latin typeface="Segoe UI"/>
              </a:rPr>
              <a:t>Zero personal data collected or stored. Telemetry is restricted strictly to local file paths and cryptographic hashes.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C084FC"/>
                </a:solidFill>
                <a:latin typeface="Segoe UI"/>
              </a:rPr>
              <a:t>RFC 9019 Compliance: </a:t>
            </a:r>
            <a:r>
              <a:rPr sz="1250">
                <a:solidFill>
                  <a:srgbClr val="F8FAFC"/>
                </a:solidFill>
                <a:latin typeface="Segoe UI"/>
              </a:rPr>
              <a:t>Complies with Internet Engineering Task Force hybrid post-quantum attestation standards.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C084FC"/>
                </a:solidFill>
                <a:latin typeface="Segoe UI"/>
              </a:rPr>
              <a:t>NSA CNSA 2.0 Alignment: </a:t>
            </a:r>
            <a:r>
              <a:rPr sz="1250">
                <a:solidFill>
                  <a:srgbClr val="F8FAFC"/>
                </a:solidFill>
                <a:latin typeface="Segoe UI"/>
              </a:rPr>
              <a:t>Satisfies highest-priority firmware signature transition guidelines.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Segoe UI"/>
              </a:rPr>
              <a:t>National Self-Reliance: </a:t>
            </a:r>
            <a:r>
              <a:rPr sz="1250">
                <a:solidFill>
                  <a:srgbClr val="F8FAFC"/>
                </a:solidFill>
                <a:latin typeface="Segoe UI"/>
              </a:rPr>
              <a:t>Eliminates reliance on proprietary foreign attestation frameworks; runs on existing Linux servers immediately.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