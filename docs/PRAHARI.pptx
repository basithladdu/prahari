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945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600" b="1" i="0">
                <a:solidFill>
                  <a:srgbClr val="0F172A"/>
                </a:solidFill>
                <a:latin typeface="Segoe UI"/>
              </a:rPr>
              <a:t>PRAHARI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2918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0" i="0">
                <a:solidFill>
                  <a:srgbClr val="64748B"/>
                </a:solidFill>
                <a:latin typeface="Segoe UI"/>
              </a:rPr>
              <a:t>Catching a hacked boot even when every signature checks out.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7607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64748B"/>
                </a:solidFill>
                <a:latin typeface="Segoe UI"/>
              </a:rPr>
              <a:t>C-DAC / MeitY AI Enabled OS Hackathon 2026  ·  Track: AI at OS &amp; Kernel Level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64748B"/>
                </a:solidFill>
                <a:latin typeface="Segoe UI"/>
              </a:rPr>
              <a:t>AI-Assisted Secure Boot &amp; Integrity Verification  ·  Shaik Abdul Basith, Shaik Awaiz, Shaik Abdul Muqeeth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 i="0">
                <a:solidFill>
                  <a:srgbClr val="DC2626"/>
                </a:solidFill>
                <a:latin typeface="Segoe U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200" b="1" i="0">
                <a:solidFill>
                  <a:srgbClr val="0F172A"/>
                </a:solidFill>
                <a:latin typeface="Segoe UI"/>
              </a:rPr>
              <a:t>Signature verification is not enough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 b="0" i="0">
                <a:solidFill>
                  <a:srgbClr val="0F172A"/>
                </a:solidFill>
                <a:latin typeface="Segoe UI"/>
              </a:rPr>
              <a:t>BlackLotus got past UEFI Secure Boot in 2023. It did not break any signature.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F172A"/>
                </a:solidFill>
                <a:latin typeface="Segoe UI"/>
              </a:rPr>
              <a:t>It brought along genuine, Microsoft-signed binaries that happened to be vulnerable.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F172A"/>
                </a:solidFill>
                <a:latin typeface="Segoe UI"/>
              </a:rPr>
              <a:t/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F172A"/>
                </a:solidFill>
                <a:latin typeface="Segoe UI"/>
              </a:rPr>
              <a:t>Every signature was valid. Every hash matched. The machine was owned anyway.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F172A"/>
                </a:solidFill>
                <a:latin typeface="Segoe UI"/>
              </a:rPr>
              <a:t>Bootkitty did the same thing to Ubuntu using LogoFAIL.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754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DC2626"/>
                </a:solidFill>
                <a:latin typeface="Segoe UI"/>
              </a:rPr>
              <a:t>A check that only asks "is this signed?" cannot see either of them.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 i="0">
                <a:solidFill>
                  <a:srgbClr val="DC2626"/>
                </a:solidFill>
                <a:latin typeface="Segoe UI"/>
              </a:rPr>
              <a:t>WHAT EXISTS 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200" b="1" i="0">
                <a:solidFill>
                  <a:srgbClr val="0F172A"/>
                </a:solidFill>
                <a:latin typeface="Segoe UI"/>
              </a:rPr>
              <a:t>Attestation works like a guest 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 b="0" i="0">
                <a:solidFill>
                  <a:srgbClr val="0F172A"/>
                </a:solidFill>
                <a:latin typeface="Segoe UI"/>
              </a:rPr>
              <a:t>Keylime — the CNCF / IBM reference implementation — keeps a list of known-good hashes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F172A"/>
                </a:solidFill>
                <a:latin typeface="Segoe UI"/>
              </a:rPr>
              <a:t>and checks every measured file against it.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F172A"/>
                </a:solidFill>
                <a:latin typeface="Segoe UI"/>
              </a:rPr>
              <a:t/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F172A"/>
                </a:solidFill>
                <a:latin typeface="Segoe UI"/>
              </a:rPr>
              <a:t>It answers one question well:  does this hash match?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F172A"/>
                </a:solidFill>
                <a:latin typeface="Segoe UI"/>
              </a:rPr>
              <a:t>It never asks the other one:  is this boot sequence normal?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F172A"/>
                </a:solidFill>
                <a:latin typeface="Segoe UI"/>
              </a:rPr>
              <a:t/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F172A"/>
                </a:solidFill>
                <a:latin typeface="Segoe UI"/>
              </a:rPr>
              <a:t>Keylime's own documentation notes the allowlist must be maintained by hand as the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F172A"/>
                </a:solidFill>
                <a:latin typeface="Segoe UI"/>
              </a:rPr>
              <a:t>system evolves.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 i="0">
                <a:solidFill>
                  <a:srgbClr val="DC2626"/>
                </a:solidFill>
                <a:latin typeface="Segoe UI"/>
              </a:rPr>
              <a:t>OUR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200" b="1" i="0">
                <a:solidFill>
                  <a:srgbClr val="0F172A"/>
                </a:solidFill>
                <a:latin typeface="Segoe UI"/>
              </a:rPr>
              <a:t>Integrity lives in the order, not only the hashes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 b="0" i="0">
                <a:solidFill>
                  <a:srgbClr val="0F172A"/>
                </a:solidFill>
                <a:latin typeface="Segoe UI"/>
              </a:rPr>
              <a:t>A machine boots the same way every time. The kernel already records every file it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F172A"/>
                </a:solidFill>
                <a:latin typeface="Segoe UI"/>
              </a:rPr>
              <a:t>loads, in order, in a plain text file — /sys/kernel/security/ima/ascii_runtime_measurements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F172A"/>
                </a:solidFill>
                <a:latin typeface="Segoe UI"/>
              </a:rPr>
              <a:t/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F172A"/>
                </a:solidFill>
                <a:latin typeface="Segoe UI"/>
              </a:rPr>
              <a:t>Boot a few times to learn what normal looks like. Then compare.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F172A"/>
                </a:solidFill>
                <a:latin typeface="Segoe UI"/>
              </a:rPr>
              <a:t/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F172A"/>
                </a:solidFill>
                <a:latin typeface="Segoe UI"/>
              </a:rPr>
              <a:t>If known-good components appear in an order that has never happened before,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F172A"/>
                </a:solidFill>
                <a:latin typeface="Segoe UI"/>
              </a:rPr>
              <a:t>something changed — even when every single file is legitimate.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2120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DC2626"/>
                </a:solidFill>
                <a:latin typeface="Segoe UI"/>
              </a:rPr>
              <a:t>allowlist attestation  -&gt;  behavioural attestation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 i="0">
                <a:solidFill>
                  <a:srgbClr val="DC2626"/>
                </a:solidFill>
                <a:latin typeface="Segoe UI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200" b="1" i="0">
                <a:solidFill>
                  <a:srgbClr val="0F172A"/>
                </a:solidFill>
                <a:latin typeface="Segoe UI"/>
              </a:rPr>
              <a:t>Four attacks, two detectors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9202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 i="0">
                <a:solidFill>
                  <a:srgbClr val="64748B"/>
                </a:solidFill>
                <a:latin typeface="Segoe UI"/>
              </a:rPr>
              <a:t>ATTACK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19202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 i="0">
                <a:solidFill>
                  <a:srgbClr val="64748B"/>
                </a:solidFill>
                <a:latin typeface="Segoe UI"/>
              </a:rPr>
              <a:t>ALLOWLIST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19202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 i="0">
                <a:solidFill>
                  <a:srgbClr val="64748B"/>
                </a:solidFill>
                <a:latin typeface="Segoe UI"/>
              </a:rPr>
              <a:t>PRAHARI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5146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 i="0">
                <a:solidFill>
                  <a:srgbClr val="0F172A"/>
                </a:solidFill>
                <a:latin typeface="Segoe UI"/>
              </a:rPr>
              <a:t>tamper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5146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 i="0">
                <a:solidFill>
                  <a:srgbClr val="16A34A"/>
                </a:solidFill>
                <a:latin typeface="Segoe UI"/>
              </a:rPr>
              <a:t>DETECT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25146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 i="0">
                <a:solidFill>
                  <a:srgbClr val="16A34A"/>
                </a:solidFill>
                <a:latin typeface="Segoe UI"/>
              </a:rPr>
              <a:t>DETECT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081528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 i="0">
                <a:solidFill>
                  <a:srgbClr val="0F172A"/>
                </a:solidFill>
                <a:latin typeface="Segoe UI"/>
              </a:rPr>
              <a:t>insert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308152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 i="0">
                <a:solidFill>
                  <a:srgbClr val="16A34A"/>
                </a:solidFill>
                <a:latin typeface="Segoe UI"/>
              </a:rPr>
              <a:t>DETECT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308152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 i="0">
                <a:solidFill>
                  <a:srgbClr val="16A34A"/>
                </a:solidFill>
                <a:latin typeface="Segoe UI"/>
              </a:rPr>
              <a:t>DETECT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648456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 i="0">
                <a:solidFill>
                  <a:srgbClr val="0F172A"/>
                </a:solidFill>
                <a:latin typeface="Segoe UI"/>
              </a:rPr>
              <a:t>reorder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648456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 i="0">
                <a:solidFill>
                  <a:srgbClr val="DC2626"/>
                </a:solidFill>
                <a:latin typeface="Segoe UI"/>
              </a:rPr>
              <a:t>MISS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3648456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 i="0">
                <a:solidFill>
                  <a:srgbClr val="16A34A"/>
                </a:solidFill>
                <a:latin typeface="Segoe UI"/>
              </a:rPr>
              <a:t>DETECT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215383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 i="0">
                <a:solidFill>
                  <a:srgbClr val="0F172A"/>
                </a:solidFill>
                <a:latin typeface="Segoe UI"/>
              </a:rPr>
              <a:t>substitute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4215383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 i="0">
                <a:solidFill>
                  <a:srgbClr val="DC2626"/>
                </a:solidFill>
                <a:latin typeface="Segoe UI"/>
              </a:rPr>
              <a:t>MISS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4215383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 i="0">
                <a:solidFill>
                  <a:srgbClr val="16A34A"/>
                </a:solidFill>
                <a:latin typeface="Segoe UI"/>
              </a:rPr>
              <a:t>DETECT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1206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1">
                <a:solidFill>
                  <a:srgbClr val="64748B"/>
                </a:solidFill>
                <a:latin typeface="Segoe UI"/>
              </a:rPr>
              <a:t>substitute is the BlackLotus shape: a real, properly signed file moved to a point in</a:t>
            </a:r>
          </a:p>
          <a:p>
            <a:pPr>
              <a:spcAft>
                <a:spcPts val="600"/>
              </a:spcAft>
            </a:pPr>
            <a:r>
              <a:rPr sz="1600" b="0" i="1">
                <a:solidFill>
                  <a:srgbClr val="64748B"/>
                </a:solidFill>
                <a:latin typeface="Segoe UI"/>
              </a:rPr>
              <a:t>the boot where it never normally appears. Its hash is valid. The allowlist shrugs.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 i="0">
                <a:solidFill>
                  <a:srgbClr val="DC2626"/>
                </a:solidFill>
                <a:latin typeface="Segoe UI"/>
              </a:rPr>
              <a:t>QUANTUM-RESISTANT SIGNING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200" b="1" i="0">
                <a:solidFill>
                  <a:srgbClr val="0F172A"/>
                </a:solidFill>
                <a:latin typeface="Segoe UI"/>
              </a:rPr>
              <a:t>Firmware is the hardest thing to change later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 b="0" i="0">
                <a:solidFill>
                  <a:srgbClr val="0F172A"/>
                </a:solidFill>
                <a:latin typeface="Segoe UI"/>
              </a:rPr>
              <a:t>The boot manifest is signed twice — ECDSA P-256 for today, ML-DSA-65 (FIPS 204) for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F172A"/>
                </a:solidFill>
                <a:latin typeface="Segoe UI"/>
              </a:rPr>
              <a:t>afterwards. A verifier must accept both. This is the hybrid pattern from RFC 9019.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F172A"/>
                </a:solidFill>
                <a:latin typeface="Segoe UI"/>
              </a:rPr>
              <a:t/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F172A"/>
                </a:solidFill>
                <a:latin typeface="Segoe UI"/>
              </a:rPr>
              <a:t>NSA CNSA 2.0 names firmware signing the highest-priority signature use case for the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F172A"/>
                </a:solidFill>
                <a:latin typeface="Segoe UI"/>
              </a:rPr>
              <a:t>post-quantum transition, because firmware is the hardest thing to change once shipped.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F172A"/>
                </a:solidFill>
                <a:latin typeface="Segoe UI"/>
              </a:rPr>
              <a:t/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F172A"/>
                </a:solidFill>
                <a:latin typeface="Segoe UI"/>
              </a:rPr>
              <a:t>OpenSSL 3.5 ships ML-DSA natively, so this needs no exotic dependency.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 i="0">
                <a:solidFill>
                  <a:srgbClr val="DC2626"/>
                </a:solidFill>
                <a:latin typeface="Segoe UI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200" b="1" i="0">
                <a:solidFill>
                  <a:srgbClr val="0F172A"/>
                </a:solidFill>
                <a:latin typeface="Segoe UI"/>
              </a:rPr>
              <a:t/>
            </a:r>
          </a:p>
        </p:txBody>
      </p:sp>
      <p:pic>
        <p:nvPicPr>
          <p:cNvPr id="4" name="Picture 3" descr="arch_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37360"/>
            <a:ext cx="10881360" cy="545156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 i="0">
                <a:solidFill>
                  <a:srgbClr val="DC2626"/>
                </a:solidFill>
                <a:latin typeface="Segoe UI"/>
              </a:rPr>
              <a:t>THE TOOL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200" b="1" i="0">
                <a:solidFill>
                  <a:srgbClr val="0F172A"/>
                </a:solidFill>
                <a:latin typeface="Segoe UI"/>
              </a:rPr>
              <a:t/>
            </a:r>
          </a:p>
        </p:txBody>
      </p:sp>
      <p:pic>
        <p:nvPicPr>
          <p:cNvPr id="4" name="Picture 3" descr="tui_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691640"/>
            <a:ext cx="9235440" cy="638620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 i="0">
                <a:solidFill>
                  <a:srgbClr val="DC2626"/>
                </a:solidFill>
                <a:latin typeface="Segoe UI"/>
              </a:rPr>
              <a:t>HONESTY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200" b="1" i="0">
                <a:solidFill>
                  <a:srgbClr val="0F172A"/>
                </a:solidFill>
                <a:latin typeface="Segoe UI"/>
              </a:rPr>
              <a:t>What we wrote and what we borrowed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 b="0" i="0">
                <a:solidFill>
                  <a:srgbClr val="0F172A"/>
                </a:solidFill>
                <a:latin typeface="Segoe UI"/>
              </a:rPr>
              <a:t>Ours:  the measurement log parser, the tokenizer that projects a measurement onto</a:t>
            </a:r>
          </a:p>
          <a:p>
            <a:pPr>
              <a:spcAft>
                <a:spcPts val="900"/>
              </a:spcAft>
            </a:pPr>
            <a:r>
              <a:rPr sz="1800" b="0" i="0">
                <a:solidFill>
                  <a:srgbClr val="0F172A"/>
                </a:solidFill>
                <a:latin typeface="Segoe UI"/>
              </a:rPr>
              <a:t>identity and content, the n-gram baseline, the detector, and the attack generator.</a:t>
            </a:r>
          </a:p>
          <a:p>
            <a:pPr>
              <a:spcAft>
                <a:spcPts val="900"/>
              </a:spcAft>
            </a:pPr>
            <a:r>
              <a:rPr sz="1800" b="0" i="0">
                <a:solidFill>
                  <a:srgbClr val="0F172A"/>
                </a:solidFill>
                <a:latin typeface="Segoe UI"/>
              </a:rPr>
              <a:t/>
            </a:r>
          </a:p>
          <a:p>
            <a:pPr>
              <a:spcAft>
                <a:spcPts val="900"/>
              </a:spcAft>
            </a:pPr>
            <a:r>
              <a:rPr sz="1800" b="0" i="0">
                <a:solidFill>
                  <a:srgbClr val="0F172A"/>
                </a:solidFill>
                <a:latin typeface="Segoe UI"/>
              </a:rPr>
              <a:t>Borrowed:  OpenSSL 3.5 (Apache-2.0) for ML-DSA and ECDSA · Textual (MIT) for the</a:t>
            </a:r>
          </a:p>
          <a:p>
            <a:pPr>
              <a:spcAft>
                <a:spcPts val="900"/>
              </a:spcAft>
            </a:pPr>
            <a:r>
              <a:rPr sz="1800" b="0" i="0">
                <a:solidFill>
                  <a:srgbClr val="0F172A"/>
                </a:solidFill>
                <a:latin typeface="Segoe UI"/>
              </a:rPr>
              <a:t>interface · plotly (MIT) for charts · anthropic (MIT) to write findings up in English.</a:t>
            </a:r>
          </a:p>
          <a:p>
            <a:pPr>
              <a:spcAft>
                <a:spcPts val="900"/>
              </a:spcAft>
            </a:pPr>
            <a:r>
              <a:rPr sz="1800" b="0" i="0">
                <a:solidFill>
                  <a:srgbClr val="0F172A"/>
                </a:solidFill>
                <a:latin typeface="Segoe UI"/>
              </a:rPr>
              <a:t/>
            </a:r>
          </a:p>
          <a:p>
            <a:pPr>
              <a:spcAft>
                <a:spcPts val="900"/>
              </a:spcAft>
            </a:pPr>
            <a:r>
              <a:rPr sz="1800" b="0" i="0">
                <a:solidFill>
                  <a:srgbClr val="0F172A"/>
                </a:solidFill>
                <a:latin typeface="Segoe UI"/>
              </a:rPr>
              <a:t>We chose n-grams over DeepLog/LogBERT deliberately. Those need thousands of</a:t>
            </a:r>
          </a:p>
          <a:p>
            <a:pPr>
              <a:spcAft>
                <a:spcPts val="900"/>
              </a:spcAft>
            </a:pPr>
            <a:r>
              <a:rPr sz="1800" b="0" i="0">
                <a:solidFill>
                  <a:srgbClr val="0F172A"/>
                </a:solidFill>
                <a:latin typeface="Segoe UI"/>
              </a:rPr>
              <a:t>sequences; you can reboot a machine ten times before a deadline. Every alert here</a:t>
            </a:r>
          </a:p>
          <a:p>
            <a:pPr>
              <a:spcAft>
                <a:spcPts val="900"/>
              </a:spcAft>
            </a:pPr>
            <a:r>
              <a:rPr sz="1800" b="0" i="0">
                <a:solidFill>
                  <a:srgbClr val="0F172A"/>
                </a:solidFill>
                <a:latin typeface="Segoe UI"/>
              </a:rPr>
              <a:t>points at a specific transition you can print and read.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