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38BDF8"/>
                </a:solidFill>
                <a:latin typeface="Segoe UI"/>
              </a:rPr>
              <a:t>C-DAC / MEITY AI ENABLED OS HACKATHON 2026  •  TRACK 2: AI AT OS &amp; KERNEL LEVEL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600" b="1">
                <a:solidFill>
                  <a:srgbClr val="F8FAFC"/>
                </a:solidFill>
                <a:latin typeface="Segoe UI"/>
              </a:rPr>
              <a:t>PRAHARI</a:t>
            </a:r>
          </a:p>
          <a:p>
            <a:r>
              <a:rPr sz="2100" b="1">
                <a:solidFill>
                  <a:srgbClr val="34D399"/>
                </a:solidFill>
                <a:latin typeface="Segoe UI"/>
              </a:rPr>
              <a:t>Behavioural Boot Attestation with Dual Hybrid Post-Quantum Signing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00400"/>
            <a:ext cx="3291840" cy="1188720"/>
          </a:xfrm>
          <a:prstGeom prst="roundRect">
            <a:avLst/>
          </a:prstGeom>
          <a:solidFill>
            <a:srgbClr val="131B2C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2918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34D399"/>
                </a:solidFill>
                <a:latin typeface="Segoe UI"/>
              </a:rPr>
              <a:t>4 / 4 Caught</a:t>
            </a:r>
          </a:p>
          <a:p>
            <a:r>
              <a:rPr sz="1200" b="1">
                <a:solidFill>
                  <a:srgbClr val="F8FAFC"/>
                </a:solidFill>
                <a:latin typeface="Segoe UI"/>
              </a:rPr>
              <a:t>Attack Vectors Detected</a:t>
            </a:r>
          </a:p>
          <a:p>
            <a:r>
              <a:rPr sz="1050">
                <a:solidFill>
                  <a:srgbClr val="94A3B8"/>
                </a:solidFill>
                <a:latin typeface="Segoe UI"/>
              </a:rPr>
              <a:t>Tamper, Insert, Reorder, Substitute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3200400"/>
            <a:ext cx="3291840" cy="1188720"/>
          </a:xfrm>
          <a:prstGeom prst="roundRect">
            <a:avLst/>
          </a:prstGeom>
          <a:solidFill>
            <a:srgbClr val="131B2C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32918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38BDF8"/>
                </a:solidFill>
                <a:latin typeface="Segoe UI"/>
              </a:rPr>
              <a:t>0 Hardware Changes</a:t>
            </a:r>
          </a:p>
          <a:p>
            <a:r>
              <a:rPr sz="1200" b="1">
                <a:solidFill>
                  <a:srgbClr val="F8FAFC"/>
                </a:solidFill>
                <a:latin typeface="Segoe UI"/>
              </a:rPr>
              <a:t>Native Linux IMA Log</a:t>
            </a:r>
          </a:p>
          <a:p>
            <a:r>
              <a:rPr sz="1050">
                <a:solidFill>
                  <a:srgbClr val="94A3B8"/>
                </a:solidFill>
                <a:latin typeface="Segoe UI"/>
              </a:rPr>
              <a:t>Runs on standard servers &amp; VMs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79" y="3200400"/>
            <a:ext cx="3291840" cy="1188720"/>
          </a:xfrm>
          <a:prstGeom prst="roundRect">
            <a:avLst/>
          </a:prstGeom>
          <a:solidFill>
            <a:srgbClr val="131B2C"/>
          </a:solidFill>
          <a:ln w="1270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3291840"/>
            <a:ext cx="3017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C084FC"/>
                </a:solidFill>
                <a:latin typeface="Segoe UI"/>
              </a:rPr>
              <a:t>FIPS 204 Ready</a:t>
            </a:r>
          </a:p>
          <a:p>
            <a:r>
              <a:rPr sz="1200" b="1">
                <a:solidFill>
                  <a:srgbClr val="F8FAFC"/>
                </a:solidFill>
                <a:latin typeface="Segoe UI"/>
              </a:rPr>
              <a:t>ML-DSA-65 + ECDSA P-256</a:t>
            </a:r>
          </a:p>
          <a:p>
            <a:r>
              <a:rPr sz="1050">
                <a:solidFill>
                  <a:srgbClr val="94A3B8"/>
                </a:solidFill>
                <a:latin typeface="Segoe UI"/>
              </a:rPr>
              <a:t>RFC 9019 Dual Hybrid Signing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754880"/>
            <a:ext cx="10360152" cy="1280160"/>
          </a:xfrm>
          <a:prstGeom prst="roundRect">
            <a:avLst/>
          </a:prstGeom>
          <a:solidFill>
            <a:srgbClr val="131B2C"/>
          </a:solidFill>
          <a:ln w="1270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892040"/>
            <a:ext cx="996696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8BDF8"/>
                </a:solidFill>
                <a:latin typeface="Segoe UI"/>
              </a:rPr>
              <a:t>Problem Statement 3: AI-Assisted Secure Boot &amp; Integrity Verification</a:t>
            </a:r>
          </a:p>
          <a:p>
            <a:r>
              <a:rPr sz="1200">
                <a:solidFill>
                  <a:srgbClr val="94A3B8"/>
                </a:solidFill>
                <a:latin typeface="Segoe UI"/>
              </a:rPr>
              <a:t>Team: Shaik Abdul Basith, Shaik Awaiz, Shaik Abdul Muqeeth  •  GitHub: github.com/basithladdu/prahari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Segoe UI"/>
              </a:rPr>
              <a:t>THE THREAT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F8FAFC"/>
                </a:solidFill>
                <a:latin typeface="Segoe UI"/>
              </a:rPr>
              <a:t>Why Signature Verification is Structurally Blind to Modern Bootkits</a:t>
            </a:r>
          </a:p>
          <a:p>
            <a:r>
              <a:rPr sz="1200">
                <a:solidFill>
                  <a:srgbClr val="94A3B8"/>
                </a:solidFill>
                <a:latin typeface="Segoe UI"/>
              </a:rPr>
              <a:t>Signatures verify provenance; they say nothing about whether the boot sequence is abnormal.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114800"/>
          </a:xfrm>
          <a:prstGeom prst="roundRect">
            <a:avLst/>
          </a:prstGeom>
          <a:solidFill>
            <a:srgbClr val="131B2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09344"/>
            <a:ext cx="4718303" cy="3822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F87171"/>
                </a:solidFill>
                <a:latin typeface="Segoe UI"/>
              </a:rPr>
              <a:t>[THE ALLOWLIST FALLACY] </a:t>
            </a:r>
            <a:r>
              <a:rPr sz="1550" b="1">
                <a:solidFill>
                  <a:srgbClr val="F8FAFC"/>
                </a:solidFill>
                <a:latin typeface="Segoe UI"/>
              </a:rPr>
              <a:t>Traditional Measured Boot (Keylime)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Static Guest List: </a:t>
            </a:r>
            <a:r>
              <a:rPr sz="1200">
                <a:solidFill>
                  <a:srgbClr val="F8FAFC"/>
                </a:solidFill>
                <a:latin typeface="Segoe UI"/>
              </a:rPr>
              <a:t>Checks measured hashes against an allowlist of known-good SHA-256 digests.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Single Question: </a:t>
            </a:r>
            <a:r>
              <a:rPr sz="1200">
                <a:solidFill>
                  <a:srgbClr val="F8FAFC"/>
                </a:solidFill>
                <a:latin typeface="Segoe UI"/>
              </a:rPr>
              <a:t>'Does this hash appear in the database?'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87171"/>
                </a:solidFill>
                <a:latin typeface="Segoe UI"/>
              </a:rPr>
              <a:t>Fatal Blind Spot: </a:t>
            </a:r>
            <a:r>
              <a:rPr sz="1200">
                <a:solidFill>
                  <a:srgbClr val="F8FAFC"/>
                </a:solidFill>
                <a:latin typeface="Segoe UI"/>
              </a:rPr>
              <a:t>Completely blind to execution order, race conditions, and binary permutations.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87171"/>
                </a:solidFill>
                <a:latin typeface="Segoe UI"/>
              </a:rPr>
              <a:t>Zero Protection: </a:t>
            </a:r>
            <a:r>
              <a:rPr sz="1200">
                <a:solidFill>
                  <a:srgbClr val="F8FAFC"/>
                </a:solidFill>
                <a:latin typeface="Segoe UI"/>
              </a:rPr>
              <a:t>An attacker running valid signed binaries in an abnormal sequence is approved 100%.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114800"/>
          </a:xfrm>
          <a:prstGeom prst="roundRect">
            <a:avLst/>
          </a:prstGeom>
          <a:solidFill>
            <a:srgbClr val="131B2C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609344"/>
            <a:ext cx="4718303" cy="3822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FBBF24"/>
                </a:solidFill>
                <a:latin typeface="Segoe UI"/>
              </a:rPr>
              <a:t>[REAL-WORLD VECTORS] </a:t>
            </a:r>
            <a:r>
              <a:rPr sz="1550" b="1">
                <a:solidFill>
                  <a:srgbClr val="F8FAFC"/>
                </a:solidFill>
                <a:latin typeface="Segoe UI"/>
              </a:rPr>
              <a:t>BlackLotus (2023) &amp; Bootkitty (2024)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BlackLotus: </a:t>
            </a:r>
            <a:r>
              <a:rPr sz="1200">
                <a:solidFill>
                  <a:srgbClr val="F8FAFC"/>
                </a:solidFill>
                <a:latin typeface="Segoe UI"/>
              </a:rPr>
              <a:t>Bypassed UEFI Secure Boot by shipping authentic, Microsoft-signed binaries with known flaws.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Bootkitty: </a:t>
            </a:r>
            <a:r>
              <a:rPr sz="1200">
                <a:solidFill>
                  <a:srgbClr val="F8FAFC"/>
                </a:solidFill>
                <a:latin typeface="Segoe UI"/>
              </a:rPr>
              <a:t>Compromised Ubuntu Secure Boot through signed components via LogoFAIL vulnerabilities.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BBF24"/>
                </a:solidFill>
                <a:latin typeface="Segoe UI"/>
              </a:rPr>
              <a:t>The Reality: </a:t>
            </a:r>
            <a:r>
              <a:rPr sz="1200">
                <a:solidFill>
                  <a:srgbClr val="F8FAFC"/>
                </a:solidFill>
                <a:latin typeface="Segoe UI"/>
              </a:rPr>
              <a:t>Every signature was valid. Every hash was on the list. The machine was compromised anyway.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The Solution: </a:t>
            </a:r>
            <a:r>
              <a:rPr sz="1200">
                <a:solidFill>
                  <a:srgbClr val="F8FAFC"/>
                </a:solidFill>
                <a:latin typeface="Segoe UI"/>
              </a:rPr>
              <a:t>Transition sequence order is the only remaining anomaly signal.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5760720"/>
            <a:ext cx="10607040" cy="685800"/>
          </a:xfrm>
          <a:prstGeom prst="roundRect">
            <a:avLst/>
          </a:prstGeom>
          <a:solidFill>
            <a:srgbClr val="131B2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5806440"/>
            <a:ext cx="102412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34D399"/>
                </a:solidFill>
                <a:latin typeface="Segoe UI"/>
              </a:rPr>
              <a:t>💡 Core Insight: Boot integrity is a property of the ORDER of events, not of individual hashes.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Segoe UI"/>
              </a:rPr>
              <a:t>OUR INNOVATION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F8FAFC"/>
                </a:solidFill>
                <a:latin typeface="Segoe UI"/>
              </a:rPr>
              <a:t>Dual-Axis Token Projection &amp; N-Gram Behavioral Modeling</a:t>
            </a:r>
          </a:p>
          <a:p>
            <a:r>
              <a:rPr sz="1200">
                <a:solidFill>
                  <a:srgbClr val="94A3B8"/>
                </a:solidFill>
                <a:latin typeface="Segoe UI"/>
              </a:rPr>
              <a:t>Zero kernel patches, zero new hardware — reads native Linux securityfs IMA measurement logs.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4937760"/>
          </a:xfrm>
          <a:prstGeom prst="roundRect">
            <a:avLst/>
          </a:prstGeom>
          <a:solidFill>
            <a:srgbClr val="131B2C"/>
          </a:solidFill>
          <a:ln w="1270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09344"/>
            <a:ext cx="2980944" cy="464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38BDF8"/>
                </a:solidFill>
                <a:latin typeface="Segoe UI"/>
              </a:rPr>
              <a:t>[1. PROJECTION] </a:t>
            </a:r>
            <a:r>
              <a:rPr sz="1550" b="1">
                <a:solidFill>
                  <a:srgbClr val="F8FAFC"/>
                </a:solidFill>
                <a:latin typeface="Segoe UI"/>
              </a:rPr>
              <a:t>Dual-Axis Tokenization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Identity Axis: </a:t>
            </a:r>
            <a:r>
              <a:rPr sz="1200">
                <a:solidFill>
                  <a:srgbClr val="F8FAFC"/>
                </a:solidFill>
                <a:latin typeface="Segoe UI"/>
              </a:rPr>
              <a:t>Normalised path (/init, /bin/systemd) — deterministic across clean boots.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Content Axis: </a:t>
            </a:r>
            <a:r>
              <a:rPr sz="1200">
                <a:solidFill>
                  <a:srgbClr val="F8FAFC"/>
                </a:solidFill>
                <a:latin typeface="Segoe UI"/>
              </a:rPr>
              <a:t>Cryptographic hash — catches direct byte corruption.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Why it matters: </a:t>
            </a:r>
            <a:r>
              <a:rPr sz="1200">
                <a:solidFill>
                  <a:srgbClr val="F8FAFC"/>
                </a:solidFill>
                <a:latin typeface="Segoe UI"/>
              </a:rPr>
              <a:t>Projects continuous measurement logs into discrete tokens for sequence anomaly analysis.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Native Linux: </a:t>
            </a:r>
            <a:r>
              <a:rPr sz="1200">
                <a:solidFill>
                  <a:srgbClr val="F8FAFC"/>
                </a:solidFill>
                <a:latin typeface="Segoe UI"/>
              </a:rPr>
              <a:t>Reads securityfs /ima/ascii_runtime_measurements directly.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937760"/>
          </a:xfrm>
          <a:prstGeom prst="roundRect">
            <a:avLst/>
          </a:prstGeom>
          <a:solidFill>
            <a:srgbClr val="131B2C"/>
          </a:solidFill>
          <a:ln w="1270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609344"/>
            <a:ext cx="2980944" cy="464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[2. LEARNING] </a:t>
            </a:r>
            <a:r>
              <a:rPr sz="1550" b="1">
                <a:solidFill>
                  <a:srgbClr val="F8FAFC"/>
                </a:solidFill>
                <a:latin typeface="Segoe UI"/>
              </a:rPr>
              <a:t>N-Gram Behavioral Model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Rapid Convergence: </a:t>
            </a:r>
            <a:r>
              <a:rPr sz="1200">
                <a:solidFill>
                  <a:srgbClr val="F8FAFC"/>
                </a:solidFill>
                <a:latin typeface="Segoe UI"/>
              </a:rPr>
              <a:t>Learns baseline transitions in 4-5 boots on physical machines.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100% Inspectable: </a:t>
            </a:r>
            <a:r>
              <a:rPr sz="1200">
                <a:solidFill>
                  <a:srgbClr val="F8FAFC"/>
                </a:solidFill>
                <a:latin typeface="Segoe UI"/>
              </a:rPr>
              <a:t>Every alert points to a concrete transition: A -&gt; B -&gt; C.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BBF24"/>
                </a:solidFill>
                <a:latin typeface="Segoe UI"/>
              </a:rPr>
              <a:t>Zero Black Box: </a:t>
            </a:r>
            <a:r>
              <a:rPr sz="1200">
                <a:solidFill>
                  <a:srgbClr val="F8FAFC"/>
                </a:solidFill>
                <a:latin typeface="Segoe UI"/>
              </a:rPr>
              <a:t>Avoids opaque neural weights (DeepLog/LogBERT) that require thousands of logs.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Actionable: </a:t>
            </a:r>
            <a:r>
              <a:rPr sz="1200">
                <a:solidFill>
                  <a:srgbClr val="F8FAFC"/>
                </a:solidFill>
                <a:latin typeface="Segoe UI"/>
              </a:rPr>
              <a:t>System administrators can verify and audit every flagged anomaly.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463040"/>
            <a:ext cx="3383280" cy="4937760"/>
          </a:xfrm>
          <a:prstGeom prst="roundRect">
            <a:avLst/>
          </a:prstGeom>
          <a:solidFill>
            <a:srgbClr val="131B2C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609344"/>
            <a:ext cx="2980944" cy="464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C084FC"/>
                </a:solidFill>
                <a:latin typeface="Segoe UI"/>
              </a:rPr>
              <a:t>[3. POST-QUANTUM] </a:t>
            </a:r>
            <a:r>
              <a:rPr sz="1550" b="1">
                <a:solidFill>
                  <a:srgbClr val="F8FAFC"/>
                </a:solidFill>
                <a:latin typeface="Segoe UI"/>
              </a:rPr>
              <a:t>Dual Hybrid Signing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C084FC"/>
                </a:solidFill>
                <a:latin typeface="Segoe UI"/>
              </a:rPr>
              <a:t>Dual Signatures: </a:t>
            </a:r>
            <a:r>
              <a:rPr sz="1200">
                <a:solidFill>
                  <a:srgbClr val="F8FAFC"/>
                </a:solidFill>
                <a:latin typeface="Segoe UI"/>
              </a:rPr>
              <a:t>ECDSA P-256 (classical) + ML-DSA-65 (FIPS 204 post-quantum).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C084FC"/>
                </a:solidFill>
                <a:latin typeface="Segoe UI"/>
              </a:rPr>
              <a:t>RFC 9019 Standard: </a:t>
            </a:r>
            <a:r>
              <a:rPr sz="1200">
                <a:solidFill>
                  <a:srgbClr val="F8FAFC"/>
                </a:solidFill>
                <a:latin typeface="Segoe UI"/>
              </a:rPr>
              <a:t>Both signatures must validate for attestation approval.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NSA CNSA 2.0: </a:t>
            </a:r>
            <a:r>
              <a:rPr sz="1200">
                <a:solidFill>
                  <a:srgbClr val="F8FAFC"/>
                </a:solidFill>
                <a:latin typeface="Segoe UI"/>
              </a:rPr>
              <a:t>Directly implements firmware/boot integrity quantum transition priority.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OpenSSL 3.5: </a:t>
            </a:r>
            <a:r>
              <a:rPr sz="1200">
                <a:solidFill>
                  <a:srgbClr val="F8FAFC"/>
                </a:solidFill>
                <a:latin typeface="Segoe UI"/>
              </a:rPr>
              <a:t>Native implementation with zero exotic dependencies.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Segoe UI"/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F8FAFC"/>
                </a:solidFill>
                <a:latin typeface="Segoe UI"/>
              </a:rPr>
              <a:t>4-Vector Threat Benchmark: Allowlist vs PRAHARI</a:t>
            </a:r>
          </a:p>
          <a:p>
            <a:r>
              <a:rPr sz="1200">
                <a:solidFill>
                  <a:srgbClr val="94A3B8"/>
                </a:solidFill>
                <a:latin typeface="Segoe UI"/>
              </a:rPr>
              <a:t>Evaluating tamper, insert, reorder, and substitute attacks on Linux IMA logs.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4937760"/>
          </a:xfrm>
          <a:prstGeom prst="roundRect">
            <a:avLst/>
          </a:prstGeom>
          <a:solidFill>
            <a:srgbClr val="131B2C"/>
          </a:solidFill>
          <a:ln w="1270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10332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38BDF8"/>
                </a:solidFill>
                <a:latin typeface="Segoe UI"/>
              </a:rPr>
              <a:t>ATTACK VECTOR </a:t>
            </a:r>
            <a:r>
              <a:rPr sz="1300">
                <a:solidFill>
                  <a:srgbClr val="38BDF8"/>
                </a:solidFill>
                <a:latin typeface="Segoe UI"/>
              </a:rPr>
              <a:t>REAL-WORLD THREAT MECHANISM                  </a:t>
            </a:r>
            <a:r>
              <a:rPr b="1" sz="1300">
                <a:solidFill>
                  <a:srgbClr val="38BDF8"/>
                </a:solidFill>
                <a:latin typeface="Segoe UI"/>
              </a:rPr>
              <a:t>ALLOWLIST (KEYLIME)      </a:t>
            </a:r>
            <a:r>
              <a:rPr b="1" sz="1300">
                <a:solidFill>
                  <a:srgbClr val="38BDF8"/>
                </a:solidFill>
                <a:latin typeface="Segoe UI"/>
              </a:rPr>
              <a:t>PRAHARI (BEHAVIOURAL)        </a:t>
            </a:r>
            <a:r>
              <a:rPr b="1" sz="1300">
                <a:solidFill>
                  <a:srgbClr val="38BDF8"/>
                </a:solidFill>
                <a:latin typeface="Segoe UI"/>
              </a:rPr>
              <a:t>VERDICT </a:t>
            </a:r>
          </a:p>
          <a:p>
            <a:pPr>
              <a:spcAft>
                <a:spcPts val="1400"/>
              </a:spcAft>
            </a:pPr>
            <a:r>
              <a:rPr b="1" sz="1200">
                <a:solidFill>
                  <a:srgbClr val="F8FAFC"/>
                </a:solidFill>
                <a:latin typeface="Consolas"/>
              </a:rPr>
              <a:t>Tamper        </a:t>
            </a:r>
            <a:r>
              <a:rPr sz="1200">
                <a:solidFill>
                  <a:srgbClr val="94A3B8"/>
                </a:solidFill>
                <a:latin typeface="Consolas"/>
              </a:rPr>
              <a:t>Direct byte modification in measured binary  </a:t>
            </a:r>
            <a:r>
              <a:rPr b="1" sz="1200">
                <a:solidFill>
                  <a:srgbClr val="34D399"/>
                </a:solidFill>
                <a:latin typeface="Consolas"/>
              </a:rPr>
              <a:t>DETECT (Hash Mismatch)   </a:t>
            </a:r>
            <a:r>
              <a:rPr b="1" sz="1200">
                <a:solidFill>
                  <a:srgbClr val="34D399"/>
                </a:solidFill>
                <a:latin typeface="Consolas"/>
              </a:rPr>
              <a:t>DETECT (Tampered Hash)       </a:t>
            </a:r>
            <a:r>
              <a:rPr b="1" sz="1200">
                <a:solidFill>
                  <a:srgbClr val="64748B"/>
                </a:solidFill>
                <a:latin typeface="Consolas"/>
              </a:rPr>
              <a:t>Caught By Both </a:t>
            </a:r>
          </a:p>
          <a:p>
            <a:pPr>
              <a:spcAft>
                <a:spcPts val="1400"/>
              </a:spcAft>
            </a:pPr>
            <a:r>
              <a:rPr b="1" sz="1200">
                <a:solidFill>
                  <a:srgbClr val="F8FAFC"/>
                </a:solidFill>
                <a:latin typeface="Consolas"/>
              </a:rPr>
              <a:t>Insert        </a:t>
            </a:r>
            <a:r>
              <a:rPr sz="1200">
                <a:solidFill>
                  <a:srgbClr val="94A3B8"/>
                </a:solidFill>
                <a:latin typeface="Consolas"/>
              </a:rPr>
              <a:t>Rogue injected kernel module / persistence payload </a:t>
            </a:r>
            <a:r>
              <a:rPr b="1" sz="1200">
                <a:solidFill>
                  <a:srgbClr val="34D399"/>
                </a:solidFill>
                <a:latin typeface="Consolas"/>
              </a:rPr>
              <a:t>DETECT (Unknown Hash)    </a:t>
            </a:r>
            <a:r>
              <a:rPr b="1" sz="1200">
                <a:solidFill>
                  <a:srgbClr val="34D399"/>
                </a:solidFill>
                <a:latin typeface="Consolas"/>
              </a:rPr>
              <a:t>DETECT (Unknown + Sequence)  </a:t>
            </a:r>
            <a:r>
              <a:rPr b="1" sz="1200">
                <a:solidFill>
                  <a:srgbClr val="64748B"/>
                </a:solidFill>
                <a:latin typeface="Consolas"/>
              </a:rPr>
              <a:t>Caught By Both </a:t>
            </a:r>
          </a:p>
          <a:p>
            <a:pPr>
              <a:spcAft>
                <a:spcPts val="1400"/>
              </a:spcAft>
            </a:pPr>
            <a:r>
              <a:rPr b="1" sz="1200">
                <a:solidFill>
                  <a:srgbClr val="F8FAFC"/>
                </a:solidFill>
                <a:latin typeface="Consolas"/>
              </a:rPr>
              <a:t>Reorder       </a:t>
            </a:r>
            <a:r>
              <a:rPr sz="1200">
                <a:solidFill>
                  <a:srgbClr val="94A3B8"/>
                </a:solidFill>
                <a:latin typeface="Consolas"/>
              </a:rPr>
              <a:t>Permuting execution order of legitimate components </a:t>
            </a:r>
            <a:r>
              <a:rPr b="1" sz="1200">
                <a:solidFill>
                  <a:srgbClr val="F87171"/>
                </a:solidFill>
                <a:latin typeface="Consolas"/>
              </a:rPr>
              <a:t>MISS (Hashes Valid)      </a:t>
            </a:r>
            <a:r>
              <a:rPr b="1" sz="1200">
                <a:solidFill>
                  <a:srgbClr val="34D399"/>
                </a:solidFill>
                <a:latin typeface="Consolas"/>
              </a:rPr>
              <a:t>DETECT (Sequence Anomaly)    </a:t>
            </a:r>
            <a:r>
              <a:rPr b="1" sz="1200">
                <a:solidFill>
                  <a:srgbClr val="34D399"/>
                </a:solidFill>
                <a:latin typeface="Consolas"/>
              </a:rPr>
              <a:t>PRAHARI Advantage </a:t>
            </a:r>
          </a:p>
          <a:p>
            <a:pPr>
              <a:spcAft>
                <a:spcPts val="1400"/>
              </a:spcAft>
            </a:pPr>
            <a:r>
              <a:rPr b="1" sz="1200">
                <a:solidFill>
                  <a:srgbClr val="F8FAFC"/>
                </a:solidFill>
                <a:latin typeface="Consolas"/>
              </a:rPr>
              <a:t>Substitute    </a:t>
            </a:r>
            <a:r>
              <a:rPr sz="1200">
                <a:solidFill>
                  <a:srgbClr val="94A3B8"/>
                </a:solidFill>
                <a:latin typeface="Consolas"/>
              </a:rPr>
              <a:t>Relocating authentic signed binary (BlackLotus) </a:t>
            </a:r>
            <a:r>
              <a:rPr b="1" sz="1200">
                <a:solidFill>
                  <a:srgbClr val="F87171"/>
                </a:solidFill>
                <a:latin typeface="Consolas"/>
              </a:rPr>
              <a:t>MISS (Hashes Valid)      </a:t>
            </a:r>
            <a:r>
              <a:rPr b="1" sz="1200">
                <a:solidFill>
                  <a:srgbClr val="34D399"/>
                </a:solidFill>
                <a:latin typeface="Consolas"/>
              </a:rPr>
              <a:t>DETECT (Sequence Anomaly)    </a:t>
            </a:r>
            <a:r>
              <a:rPr b="1" sz="1200">
                <a:solidFill>
                  <a:srgbClr val="34D399"/>
                </a:solidFill>
                <a:latin typeface="Consolas"/>
              </a:rPr>
              <a:t>PRAHARI Advantage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Segoe U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F8FAFC"/>
                </a:solidFill>
                <a:latin typeface="Segoe UI"/>
              </a:rPr>
              <a:t>End-to-End System Pipeline</a:t>
            </a:r>
          </a:p>
          <a:p>
            <a:r>
              <a:rPr sz="1200">
                <a:solidFill>
                  <a:srgbClr val="94A3B8"/>
                </a:solidFill>
                <a:latin typeface="Segoe UI"/>
              </a:rPr>
              <a:t>Securityfs Event Ingestion -&gt; Dual Tokenizer -&gt; N-Gram Detector -&gt; Hybrid Signer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698480" cy="5029200"/>
          </a:xfrm>
          <a:prstGeom prst="roundRect">
            <a:avLst/>
          </a:prstGeom>
          <a:solidFill>
            <a:srgbClr val="131B2C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_arch_h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00200"/>
            <a:ext cx="10332720" cy="51759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Segoe UI"/>
              </a:rPr>
              <a:t>INTERFACE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F8FAFC"/>
                </a:solidFill>
                <a:latin typeface="Segoe UI"/>
              </a:rPr>
              <a:t>Live Operator Terminal UI &amp; HTML Security Portal</a:t>
            </a:r>
          </a:p>
          <a:p>
            <a:r>
              <a:rPr sz="1200">
                <a:solidFill>
                  <a:srgbClr val="94A3B8"/>
                </a:solidFill>
                <a:latin typeface="Segoe UI"/>
              </a:rPr>
              <a:t>Built with Textual — optimized for SSH server administration with dynamic attack simulation hotkeys.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10698480" cy="5029200"/>
          </a:xfrm>
          <a:prstGeom prst="roundRect">
            <a:avLst/>
          </a:prstGeom>
          <a:solidFill>
            <a:srgbClr val="131B2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p_tui_h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554480"/>
            <a:ext cx="9601200" cy="600545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20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38BDF8"/>
                </a:solidFill>
                <a:latin typeface="Segoe UI"/>
              </a:rPr>
              <a:t>ENGINEERING &amp; SOVEREIGNTY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>
                <a:solidFill>
                  <a:srgbClr val="F8FAFC"/>
                </a:solidFill>
                <a:latin typeface="Segoe UI"/>
              </a:rPr>
              <a:t>Open Source Stack, DPDP Act 2023 &amp; Indigenous Security</a:t>
            </a:r>
          </a:p>
          <a:p>
            <a:r>
              <a:rPr sz="1200">
                <a:solidFill>
                  <a:srgbClr val="94A3B8"/>
                </a:solidFill>
                <a:latin typeface="Segoe UI"/>
              </a:rPr>
              <a:t>Standards-compliant, sovereign security infrastructure for Atmanirbhar Bharat.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120640" cy="4937760"/>
          </a:xfrm>
          <a:prstGeom prst="roundRect">
            <a:avLst/>
          </a:prstGeom>
          <a:solidFill>
            <a:srgbClr val="131B2C"/>
          </a:solidFill>
          <a:ln w="12700">
            <a:solidFill>
              <a:srgbClr val="263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609344"/>
            <a:ext cx="4718303" cy="464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38BDF8"/>
                </a:solidFill>
                <a:latin typeface="Segoe UI"/>
              </a:rPr>
              <a:t>[OPEN SOURCE TECH STACK] </a:t>
            </a:r>
            <a:r>
              <a:rPr sz="1550" b="1">
                <a:solidFill>
                  <a:srgbClr val="F8FAFC"/>
                </a:solidFill>
                <a:latin typeface="Segoe UI"/>
              </a:rPr>
              <a:t>Modular, Inspectable, Tested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8BDF8"/>
                </a:solidFill>
                <a:latin typeface="Segoe UI"/>
              </a:rPr>
              <a:t>Language &amp; Package: </a:t>
            </a:r>
            <a:r>
              <a:rPr sz="1200">
                <a:solidFill>
                  <a:srgbClr val="F8FAFC"/>
                </a:solidFill>
                <a:latin typeface="Segoe UI"/>
              </a:rPr>
              <a:t>Python 3.9+ pip-installable library with zero exotic binary blobs.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C084FC"/>
                </a:solidFill>
                <a:latin typeface="Segoe UI"/>
              </a:rPr>
              <a:t>Post-Quantum Cryptography: </a:t>
            </a:r>
            <a:r>
              <a:rPr sz="1200">
                <a:solidFill>
                  <a:srgbClr val="F8FAFC"/>
                </a:solidFill>
                <a:latin typeface="Segoe UI"/>
              </a:rPr>
              <a:t>OpenSSL 3.5 (Apache-2.0) native ML-DSA-65 &amp; ECDSA P-256.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F8FAFC"/>
                </a:solidFill>
                <a:latin typeface="Segoe UI"/>
              </a:rPr>
              <a:t>Operator Interface: </a:t>
            </a:r>
            <a:r>
              <a:rPr sz="1200">
                <a:solidFill>
                  <a:srgbClr val="F8FAFC"/>
                </a:solidFill>
                <a:latin typeface="Segoe UI"/>
              </a:rPr>
              <a:t>Textual (MIT) TUI with real-time live simulation hotkeys [c],[t],[i],[r],[s].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94A3B8"/>
                </a:solidFill>
                <a:latin typeface="Segoe UI"/>
              </a:rPr>
              <a:t>HTML Dashboard: </a:t>
            </a:r>
            <a:r>
              <a:rPr sz="1200">
                <a:solidFill>
                  <a:srgbClr val="F8FAFC"/>
                </a:solidFill>
                <a:latin typeface="Segoe UI"/>
              </a:rPr>
              <a:t>Plotly (MIT) interactive sequence timeline (boot.html).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Automated Tests: </a:t>
            </a:r>
            <a:r>
              <a:rPr sz="1200">
                <a:solidFill>
                  <a:srgbClr val="F8FAFC"/>
                </a:solidFill>
                <a:latin typeface="Segoe UI"/>
              </a:rPr>
              <a:t>100% test coverage with GitHub Actions CI workflow.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Licensing: </a:t>
            </a:r>
            <a:r>
              <a:rPr sz="1200">
                <a:solidFill>
                  <a:srgbClr val="F8FAFC"/>
                </a:solidFill>
                <a:latin typeface="Segoe UI"/>
              </a:rPr>
              <a:t>100% Open Source under the MIT License.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120640" cy="4937760"/>
          </a:xfrm>
          <a:prstGeom prst="roundRect">
            <a:avLst/>
          </a:prstGeom>
          <a:solidFill>
            <a:srgbClr val="131B2C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609344"/>
            <a:ext cx="4718303" cy="4645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050" b="1">
                <a:solidFill>
                  <a:srgbClr val="34D399"/>
                </a:solidFill>
                <a:latin typeface="Segoe UI"/>
              </a:rPr>
              <a:t>[COMPLIANCE &amp; IMPACT] </a:t>
            </a:r>
            <a:r>
              <a:rPr sz="1550" b="1">
                <a:solidFill>
                  <a:srgbClr val="F8FAFC"/>
                </a:solidFill>
                <a:latin typeface="Segoe UI"/>
              </a:rPr>
              <a:t>DPDP Act 2023 &amp; Self-Reliance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DPDP Act 2023 Compliance: </a:t>
            </a:r>
            <a:r>
              <a:rPr sz="1200">
                <a:solidFill>
                  <a:srgbClr val="F8FAFC"/>
                </a:solidFill>
                <a:latin typeface="Segoe UI"/>
              </a:rPr>
              <a:t>Zero personal data collected or stored. Telemetry is restricted strictly to local file paths and cryptographic hashes.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C084FC"/>
                </a:solidFill>
                <a:latin typeface="Segoe UI"/>
              </a:rPr>
              <a:t>RFC 9019 Compliance: </a:t>
            </a:r>
            <a:r>
              <a:rPr sz="1200">
                <a:solidFill>
                  <a:srgbClr val="F8FAFC"/>
                </a:solidFill>
                <a:latin typeface="Segoe UI"/>
              </a:rPr>
              <a:t>Complies with Internet Engineering Task Force hybrid post-quantum attestation standards.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C084FC"/>
                </a:solidFill>
                <a:latin typeface="Segoe UI"/>
              </a:rPr>
              <a:t>NSA CNSA 2.0 Alignment: </a:t>
            </a:r>
            <a:r>
              <a:rPr sz="1200">
                <a:solidFill>
                  <a:srgbClr val="F8FAFC"/>
                </a:solidFill>
                <a:latin typeface="Segoe UI"/>
              </a:rPr>
              <a:t>Satisfies highest-priority firmware signature transition guidelines.</a:t>
            </a:r>
          </a:p>
          <a:p>
            <a:pPr>
              <a:spcAft>
                <a:spcPts val="500"/>
              </a:spcAft>
            </a:pPr>
            <a:r>
              <a:rPr sz="1200" b="1">
                <a:solidFill>
                  <a:srgbClr val="34D399"/>
                </a:solidFill>
                <a:latin typeface="Segoe UI"/>
              </a:rPr>
              <a:t>National Self-Reliance: </a:t>
            </a:r>
            <a:r>
              <a:rPr sz="1200">
                <a:solidFill>
                  <a:srgbClr val="F8FAFC"/>
                </a:solidFill>
                <a:latin typeface="Segoe UI"/>
              </a:rPr>
              <a:t>Eliminates reliance on proprietary foreign attestation frameworks; runs on existing Linux servers immediately.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